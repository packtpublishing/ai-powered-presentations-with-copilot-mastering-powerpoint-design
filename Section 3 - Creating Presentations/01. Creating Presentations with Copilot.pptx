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2" r:id="rId3"/>
    <p:sldId id="2563" r:id="rId4"/>
    <p:sldId id="2564" r:id="rId5"/>
    <p:sldId id="2565" r:id="rId6"/>
    <p:sldId id="2566" r:id="rId7"/>
    <p:sldId id="2567" r:id="rId8"/>
    <p:sldId id="2568" r:id="rId9"/>
    <p:sldId id="2569" r:id="rId10"/>
    <p:sldId id="2570" r:id="rId11"/>
    <p:sldId id="2574" r:id="rId12"/>
    <p:sldId id="2571" r:id="rId13"/>
    <p:sldId id="2572" r:id="rId14"/>
    <p:sldId id="25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inning Marketing Strategies for Launching a New Sports Drink" id="{57A961A6-DFFD-43FE-AA7F-857A4DA76CD7}">
          <p14:sldIdLst>
            <p14:sldId id="2561"/>
            <p14:sldId id="2562"/>
          </p14:sldIdLst>
        </p14:section>
        <p14:section name="Marketing Strategy for a Sports Drink Product Launch" id="{BA5510DE-B575-4C4B-8C87-CB035AB6980A}">
          <p14:sldIdLst>
            <p14:sldId id="2563"/>
            <p14:sldId id="2564"/>
            <p14:sldId id="2565"/>
            <p14:sldId id="2566"/>
            <p14:sldId id="2567"/>
            <p14:sldId id="2568"/>
          </p14:sldIdLst>
        </p14:section>
        <p14:section name="Post-Launch Marketing Strategies for a New Sports Drink" id="{04F5D547-82D5-42AC-BDEE-DCFC1AC08D05}">
          <p14:sldIdLst>
            <p14:sldId id="2569"/>
            <p14:sldId id="2570"/>
            <p14:sldId id="2574"/>
            <p14:sldId id="2571"/>
            <p14:sldId id="2572"/>
          </p14:sldIdLst>
        </p14:section>
        <p14:section name="Conclusion" id="{F9A5D5E8-745A-46D5-B95B-E5A72CF5A071}">
          <p14:sldIdLst>
            <p14:sldId id="25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p:scale>
          <a:sx n="75" d="100"/>
          <a:sy n="75" d="100"/>
        </p:scale>
        <p:origin x="96" y="845"/>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diagrams/_rels/data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C4E447-30A5-4F43-BDD2-5313E32E55DA}"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876749BB-3415-41DA-943A-66A1AF4A3F84}">
      <dgm:prSet/>
      <dgm:spPr/>
      <dgm:t>
        <a:bodyPr/>
        <a:lstStyle/>
        <a:p>
          <a:pPr>
            <a:lnSpc>
              <a:spcPct val="100000"/>
            </a:lnSpc>
            <a:defRPr b="1"/>
          </a:pPr>
          <a:r>
            <a:rPr lang="en-US"/>
            <a:t>Market Trend Analysis</a:t>
          </a:r>
        </a:p>
      </dgm:t>
    </dgm:pt>
    <dgm:pt modelId="{F635212F-E072-445E-A780-7876680C10A3}" type="parTrans" cxnId="{095A8889-7CC7-47DF-B254-408786446CF3}">
      <dgm:prSet/>
      <dgm:spPr/>
      <dgm:t>
        <a:bodyPr/>
        <a:lstStyle/>
        <a:p>
          <a:endParaRPr lang="en-US"/>
        </a:p>
      </dgm:t>
    </dgm:pt>
    <dgm:pt modelId="{D550799D-628B-45EC-9595-D045B6D712FD}" type="sibTrans" cxnId="{095A8889-7CC7-47DF-B254-408786446CF3}">
      <dgm:prSet/>
      <dgm:spPr/>
      <dgm:t>
        <a:bodyPr/>
        <a:lstStyle/>
        <a:p>
          <a:pPr>
            <a:lnSpc>
              <a:spcPct val="100000"/>
            </a:lnSpc>
            <a:defRPr b="1"/>
          </a:pPr>
          <a:endParaRPr lang="en-US"/>
        </a:p>
      </dgm:t>
    </dgm:pt>
    <dgm:pt modelId="{5E336C7E-FBCC-46FA-99FB-1D8C3C28A15C}">
      <dgm:prSet/>
      <dgm:spPr/>
      <dgm:t>
        <a:bodyPr/>
        <a:lstStyle/>
        <a:p>
          <a:pPr>
            <a:lnSpc>
              <a:spcPct val="100000"/>
            </a:lnSpc>
          </a:pPr>
          <a:r>
            <a:rPr lang="en-US"/>
            <a:t>Continuously analyze market trends to understand changing consumer behaviors and preferences effectively.</a:t>
          </a:r>
        </a:p>
      </dgm:t>
    </dgm:pt>
    <dgm:pt modelId="{3E62A293-2F16-48C0-AA9E-7067A3644ABC}" type="parTrans" cxnId="{6B5568EC-1E5F-45FA-AFC0-0BE672BDBB15}">
      <dgm:prSet/>
      <dgm:spPr/>
      <dgm:t>
        <a:bodyPr/>
        <a:lstStyle/>
        <a:p>
          <a:endParaRPr lang="en-US"/>
        </a:p>
      </dgm:t>
    </dgm:pt>
    <dgm:pt modelId="{E3F86E9D-F6E8-4475-84A3-6848BC9734DB}" type="sibTrans" cxnId="{6B5568EC-1E5F-45FA-AFC0-0BE672BDBB15}">
      <dgm:prSet/>
      <dgm:spPr/>
      <dgm:t>
        <a:bodyPr/>
        <a:lstStyle/>
        <a:p>
          <a:endParaRPr lang="en-US"/>
        </a:p>
      </dgm:t>
    </dgm:pt>
    <dgm:pt modelId="{7DBB2D48-B0FB-45D2-907B-31A8A4564223}">
      <dgm:prSet/>
      <dgm:spPr/>
      <dgm:t>
        <a:bodyPr/>
        <a:lstStyle/>
        <a:p>
          <a:pPr>
            <a:lnSpc>
              <a:spcPct val="100000"/>
            </a:lnSpc>
            <a:defRPr b="1"/>
          </a:pPr>
          <a:r>
            <a:rPr lang="en-US"/>
            <a:t>Gathering Customer Feedback</a:t>
          </a:r>
        </a:p>
      </dgm:t>
    </dgm:pt>
    <dgm:pt modelId="{34D49298-556D-4F33-917D-5D242053957B}" type="parTrans" cxnId="{CB42B1EC-DE12-41C0-840B-0BFAF1DDDA5E}">
      <dgm:prSet/>
      <dgm:spPr/>
      <dgm:t>
        <a:bodyPr/>
        <a:lstStyle/>
        <a:p>
          <a:endParaRPr lang="en-US"/>
        </a:p>
      </dgm:t>
    </dgm:pt>
    <dgm:pt modelId="{A34EB0A8-D8F9-439F-9F4D-A8E208E842E6}" type="sibTrans" cxnId="{CB42B1EC-DE12-41C0-840B-0BFAF1DDDA5E}">
      <dgm:prSet/>
      <dgm:spPr/>
      <dgm:t>
        <a:bodyPr/>
        <a:lstStyle/>
        <a:p>
          <a:pPr>
            <a:lnSpc>
              <a:spcPct val="100000"/>
            </a:lnSpc>
            <a:defRPr b="1"/>
          </a:pPr>
          <a:endParaRPr lang="en-US"/>
        </a:p>
      </dgm:t>
    </dgm:pt>
    <dgm:pt modelId="{9F0C2A41-2D99-439A-93C0-031B0BD2397A}">
      <dgm:prSet/>
      <dgm:spPr/>
      <dgm:t>
        <a:bodyPr/>
        <a:lstStyle/>
        <a:p>
          <a:pPr>
            <a:lnSpc>
              <a:spcPct val="100000"/>
            </a:lnSpc>
          </a:pPr>
          <a:r>
            <a:rPr lang="en-US"/>
            <a:t>Collect customer feedback regularly to gain insights into product performance and areas for improvement.</a:t>
          </a:r>
        </a:p>
      </dgm:t>
    </dgm:pt>
    <dgm:pt modelId="{1BCDFCAC-9E4C-4C68-9D1A-2DAF1A56093D}" type="parTrans" cxnId="{FE94A1CC-3873-42F5-A36E-CB5065F89A5A}">
      <dgm:prSet/>
      <dgm:spPr/>
      <dgm:t>
        <a:bodyPr/>
        <a:lstStyle/>
        <a:p>
          <a:endParaRPr lang="en-US"/>
        </a:p>
      </dgm:t>
    </dgm:pt>
    <dgm:pt modelId="{5CA82DA9-6CFB-45D9-AFD3-DC4C98D676E5}" type="sibTrans" cxnId="{FE94A1CC-3873-42F5-A36E-CB5065F89A5A}">
      <dgm:prSet/>
      <dgm:spPr/>
      <dgm:t>
        <a:bodyPr/>
        <a:lstStyle/>
        <a:p>
          <a:endParaRPr lang="en-US"/>
        </a:p>
      </dgm:t>
    </dgm:pt>
    <dgm:pt modelId="{DCB6E85F-B1CF-42FE-BE51-D57DA6FA4FF4}">
      <dgm:prSet/>
      <dgm:spPr/>
      <dgm:t>
        <a:bodyPr/>
        <a:lstStyle/>
        <a:p>
          <a:pPr>
            <a:lnSpc>
              <a:spcPct val="100000"/>
            </a:lnSpc>
            <a:defRPr b="1"/>
          </a:pPr>
          <a:r>
            <a:rPr lang="en-US"/>
            <a:t>Refining Strategies</a:t>
          </a:r>
        </a:p>
      </dgm:t>
    </dgm:pt>
    <dgm:pt modelId="{4C44C7FE-150A-448D-BC3E-A3F504922B51}" type="parTrans" cxnId="{6850B075-E67D-4F4F-94DA-D66595CF565B}">
      <dgm:prSet/>
      <dgm:spPr/>
      <dgm:t>
        <a:bodyPr/>
        <a:lstStyle/>
        <a:p>
          <a:endParaRPr lang="en-US"/>
        </a:p>
      </dgm:t>
    </dgm:pt>
    <dgm:pt modelId="{B8F16671-2739-439B-ADA9-0E4595205652}" type="sibTrans" cxnId="{6850B075-E67D-4F4F-94DA-D66595CF565B}">
      <dgm:prSet/>
      <dgm:spPr/>
      <dgm:t>
        <a:bodyPr/>
        <a:lstStyle/>
        <a:p>
          <a:endParaRPr lang="en-US"/>
        </a:p>
      </dgm:t>
    </dgm:pt>
    <dgm:pt modelId="{82EACB12-994B-444F-9392-1128021D0400}">
      <dgm:prSet/>
      <dgm:spPr/>
      <dgm:t>
        <a:bodyPr/>
        <a:lstStyle/>
        <a:p>
          <a:pPr>
            <a:lnSpc>
              <a:spcPct val="100000"/>
            </a:lnSpc>
          </a:pPr>
          <a:r>
            <a:rPr lang="en-US"/>
            <a:t>Use the data collected to refine marketing strategies and enhance product offerings to meet consumer needs effectively.</a:t>
          </a:r>
        </a:p>
      </dgm:t>
    </dgm:pt>
    <dgm:pt modelId="{219DCBFC-FE5B-43AE-AB78-D93609D08A75}" type="parTrans" cxnId="{3ED31015-A96F-4681-863C-B6F07A774434}">
      <dgm:prSet/>
      <dgm:spPr/>
      <dgm:t>
        <a:bodyPr/>
        <a:lstStyle/>
        <a:p>
          <a:endParaRPr lang="en-US"/>
        </a:p>
      </dgm:t>
    </dgm:pt>
    <dgm:pt modelId="{D7BA51AC-65B7-49E6-9BC5-6EBF177BA079}" type="sibTrans" cxnId="{3ED31015-A96F-4681-863C-B6F07A774434}">
      <dgm:prSet/>
      <dgm:spPr/>
      <dgm:t>
        <a:bodyPr/>
        <a:lstStyle/>
        <a:p>
          <a:endParaRPr lang="en-US"/>
        </a:p>
      </dgm:t>
    </dgm:pt>
    <dgm:pt modelId="{40AB2EC7-1AE2-4FF5-AC2E-F8B90496B05D}" type="pres">
      <dgm:prSet presAssocID="{0CC4E447-30A5-4F43-BDD2-5313E32E55DA}" presName="Root" presStyleCnt="0">
        <dgm:presLayoutVars>
          <dgm:dir/>
          <dgm:resizeHandles val="exact"/>
        </dgm:presLayoutVars>
      </dgm:prSet>
      <dgm:spPr/>
    </dgm:pt>
    <dgm:pt modelId="{42EB2192-2187-4872-B40F-C20C318CD52B}" type="pres">
      <dgm:prSet presAssocID="{876749BB-3415-41DA-943A-66A1AF4A3F84}" presName="Composite" presStyleCnt="0"/>
      <dgm:spPr/>
    </dgm:pt>
    <dgm:pt modelId="{72952E9D-8139-4C3A-94A2-D01E48AB29E5}" type="pres">
      <dgm:prSet presAssocID="{876749BB-3415-41DA-943A-66A1AF4A3F84}"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7722" r="25279" b="1"/>
          <a:stretch/>
        </a:blipFill>
      </dgm:spPr>
      <dgm:extLst>
        <a:ext uri="{E40237B7-FDA0-4F09-8148-C483321AD2D9}">
          <dgm14:cNvPr xmlns:dgm14="http://schemas.microsoft.com/office/drawing/2010/diagram" id="0" name="" descr="Graph"/>
        </a:ext>
      </dgm:extLst>
    </dgm:pt>
    <dgm:pt modelId="{1482B818-2134-4521-BBA4-A5495E8C45C0}" type="pres">
      <dgm:prSet presAssocID="{876749BB-3415-41DA-943A-66A1AF4A3F84}" presName="Subtitle" presStyleLbl="revTx" presStyleIdx="0" presStyleCnt="6">
        <dgm:presLayoutVars>
          <dgm:chMax val="0"/>
          <dgm:bulletEnabled/>
        </dgm:presLayoutVars>
      </dgm:prSet>
      <dgm:spPr/>
    </dgm:pt>
    <dgm:pt modelId="{8EC5C4C6-B92A-4266-AE6F-D3B5FAC87281}" type="pres">
      <dgm:prSet presAssocID="{876749BB-3415-41DA-943A-66A1AF4A3F84}" presName="Description" presStyleLbl="revTx" presStyleIdx="1" presStyleCnt="6">
        <dgm:presLayoutVars>
          <dgm:bulletEnabled/>
        </dgm:presLayoutVars>
      </dgm:prSet>
      <dgm:spPr/>
    </dgm:pt>
    <dgm:pt modelId="{EE7DFE7F-32BC-4BB4-A6A8-01A9F79C6823}" type="pres">
      <dgm:prSet presAssocID="{D550799D-628B-45EC-9595-D045B6D712FD}" presName="sibTrans" presStyleLbl="sibTrans2D1" presStyleIdx="0" presStyleCnt="0"/>
      <dgm:spPr/>
    </dgm:pt>
    <dgm:pt modelId="{D268D993-BE7E-4312-93CF-B68B27599597}" type="pres">
      <dgm:prSet presAssocID="{7DBB2D48-B0FB-45D2-907B-31A8A4564223}" presName="Composite" presStyleCnt="0"/>
      <dgm:spPr/>
    </dgm:pt>
    <dgm:pt modelId="{C3DC6AF6-6E26-460F-89CB-C3AF7C627B3E}" type="pres">
      <dgm:prSet presAssocID="{7DBB2D48-B0FB-45D2-907B-31A8A456422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844" r="24156"/>
          <a:stretch/>
        </a:blipFill>
      </dgm:spPr>
      <dgm:extLst>
        <a:ext uri="{E40237B7-FDA0-4F09-8148-C483321AD2D9}">
          <dgm14:cNvPr xmlns:dgm14="http://schemas.microsoft.com/office/drawing/2010/diagram" id="0" name="" descr="Customer satisfuction survey feedback desk top view"/>
        </a:ext>
      </dgm:extLst>
    </dgm:pt>
    <dgm:pt modelId="{09C6178B-BF05-43A9-8B22-476DEFAEFCA3}" type="pres">
      <dgm:prSet presAssocID="{7DBB2D48-B0FB-45D2-907B-31A8A4564223}" presName="Subtitle" presStyleLbl="revTx" presStyleIdx="2" presStyleCnt="6">
        <dgm:presLayoutVars>
          <dgm:chMax val="0"/>
          <dgm:bulletEnabled/>
        </dgm:presLayoutVars>
      </dgm:prSet>
      <dgm:spPr/>
    </dgm:pt>
    <dgm:pt modelId="{49953392-C821-4527-8BC8-AEB09679E7A5}" type="pres">
      <dgm:prSet presAssocID="{7DBB2D48-B0FB-45D2-907B-31A8A4564223}" presName="Description" presStyleLbl="revTx" presStyleIdx="3" presStyleCnt="6">
        <dgm:presLayoutVars>
          <dgm:bulletEnabled/>
        </dgm:presLayoutVars>
      </dgm:prSet>
      <dgm:spPr/>
    </dgm:pt>
    <dgm:pt modelId="{1420C6D9-58BC-49B6-922D-AA312EE18BC3}" type="pres">
      <dgm:prSet presAssocID="{A34EB0A8-D8F9-439F-9F4D-A8E208E842E6}" presName="sibTrans" presStyleLbl="sibTrans2D1" presStyleIdx="0" presStyleCnt="0"/>
      <dgm:spPr/>
    </dgm:pt>
    <dgm:pt modelId="{DD51A3D7-79F8-42DA-9501-9A9F655D33D6}" type="pres">
      <dgm:prSet presAssocID="{DCB6E85F-B1CF-42FE-BE51-D57DA6FA4FF4}" presName="Composite" presStyleCnt="0"/>
      <dgm:spPr/>
    </dgm:pt>
    <dgm:pt modelId="{1B0B1527-AE17-49F5-8EF8-228F269AD9D1}" type="pres">
      <dgm:prSet presAssocID="{DCB6E85F-B1CF-42FE-BE51-D57DA6FA4FF4}"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8882" r="4370" b="3"/>
          <a:stretch/>
        </a:blipFill>
      </dgm:spPr>
      <dgm:extLst>
        <a:ext uri="{E40237B7-FDA0-4F09-8148-C483321AD2D9}">
          <dgm14:cNvPr xmlns:dgm14="http://schemas.microsoft.com/office/drawing/2010/diagram" id="0" name="" descr="Group working on graphs"/>
        </a:ext>
      </dgm:extLst>
    </dgm:pt>
    <dgm:pt modelId="{10E18B4D-4C06-4E7A-8BAA-DC2D17E9891A}" type="pres">
      <dgm:prSet presAssocID="{DCB6E85F-B1CF-42FE-BE51-D57DA6FA4FF4}" presName="Subtitle" presStyleLbl="revTx" presStyleIdx="4" presStyleCnt="6">
        <dgm:presLayoutVars>
          <dgm:chMax val="0"/>
          <dgm:bulletEnabled/>
        </dgm:presLayoutVars>
      </dgm:prSet>
      <dgm:spPr/>
    </dgm:pt>
    <dgm:pt modelId="{82646609-A1C6-4628-9CE6-20FA5FF07E66}" type="pres">
      <dgm:prSet presAssocID="{DCB6E85F-B1CF-42FE-BE51-D57DA6FA4FF4}" presName="Description" presStyleLbl="revTx" presStyleIdx="5" presStyleCnt="6">
        <dgm:presLayoutVars>
          <dgm:bulletEnabled/>
        </dgm:presLayoutVars>
      </dgm:prSet>
      <dgm:spPr/>
    </dgm:pt>
  </dgm:ptLst>
  <dgm:cxnLst>
    <dgm:cxn modelId="{3ED31015-A96F-4681-863C-B6F07A774434}" srcId="{DCB6E85F-B1CF-42FE-BE51-D57DA6FA4FF4}" destId="{82EACB12-994B-444F-9392-1128021D0400}" srcOrd="0" destOrd="0" parTransId="{219DCBFC-FE5B-43AE-AB78-D93609D08A75}" sibTransId="{D7BA51AC-65B7-49E6-9BC5-6EBF177BA079}"/>
    <dgm:cxn modelId="{36D3F43B-97B9-40D3-A323-B88CE7ABF727}" type="presOf" srcId="{876749BB-3415-41DA-943A-66A1AF4A3F84}" destId="{1482B818-2134-4521-BBA4-A5495E8C45C0}" srcOrd="0" destOrd="0" presId="urn:microsoft.com/office/officeart/2024/3/layout/verticalVisualTextBlock1"/>
    <dgm:cxn modelId="{36E08B5D-B414-4F94-8538-13EB0FFC37DE}" type="presOf" srcId="{D550799D-628B-45EC-9595-D045B6D712FD}" destId="{EE7DFE7F-32BC-4BB4-A6A8-01A9F79C6823}" srcOrd="0" destOrd="0" presId="urn:microsoft.com/office/officeart/2024/3/layout/verticalVisualTextBlock1"/>
    <dgm:cxn modelId="{59B7EF4D-8593-4249-9159-99EFE14AAE2A}" type="presOf" srcId="{5E336C7E-FBCC-46FA-99FB-1D8C3C28A15C}" destId="{8EC5C4C6-B92A-4266-AE6F-D3B5FAC87281}" srcOrd="0" destOrd="0" presId="urn:microsoft.com/office/officeart/2024/3/layout/verticalVisualTextBlock1"/>
    <dgm:cxn modelId="{6850B075-E67D-4F4F-94DA-D66595CF565B}" srcId="{0CC4E447-30A5-4F43-BDD2-5313E32E55DA}" destId="{DCB6E85F-B1CF-42FE-BE51-D57DA6FA4FF4}" srcOrd="2" destOrd="0" parTransId="{4C44C7FE-150A-448D-BC3E-A3F504922B51}" sibTransId="{B8F16671-2739-439B-ADA9-0E4595205652}"/>
    <dgm:cxn modelId="{F450A156-B4B6-4991-8473-A27538EB6C6B}" type="presOf" srcId="{9F0C2A41-2D99-439A-93C0-031B0BD2397A}" destId="{49953392-C821-4527-8BC8-AEB09679E7A5}" srcOrd="0" destOrd="0" presId="urn:microsoft.com/office/officeart/2024/3/layout/verticalVisualTextBlock1"/>
    <dgm:cxn modelId="{2A76FD86-E1E8-41A9-A284-A0E6B3F80DE0}" type="presOf" srcId="{0CC4E447-30A5-4F43-BDD2-5313E32E55DA}" destId="{40AB2EC7-1AE2-4FF5-AC2E-F8B90496B05D}" srcOrd="0" destOrd="0" presId="urn:microsoft.com/office/officeart/2024/3/layout/verticalVisualTextBlock1"/>
    <dgm:cxn modelId="{095A8889-7CC7-47DF-B254-408786446CF3}" srcId="{0CC4E447-30A5-4F43-BDD2-5313E32E55DA}" destId="{876749BB-3415-41DA-943A-66A1AF4A3F84}" srcOrd="0" destOrd="0" parTransId="{F635212F-E072-445E-A780-7876680C10A3}" sibTransId="{D550799D-628B-45EC-9595-D045B6D712FD}"/>
    <dgm:cxn modelId="{0191CC99-EE4E-4F47-BB82-50FF130FE96F}" type="presOf" srcId="{DCB6E85F-B1CF-42FE-BE51-D57DA6FA4FF4}" destId="{10E18B4D-4C06-4E7A-8BAA-DC2D17E9891A}" srcOrd="0" destOrd="0" presId="urn:microsoft.com/office/officeart/2024/3/layout/verticalVisualTextBlock1"/>
    <dgm:cxn modelId="{F9C801A0-961E-4EE1-B9B6-C79149B5339B}" type="presOf" srcId="{82EACB12-994B-444F-9392-1128021D0400}" destId="{82646609-A1C6-4628-9CE6-20FA5FF07E66}" srcOrd="0" destOrd="0" presId="urn:microsoft.com/office/officeart/2024/3/layout/verticalVisualTextBlock1"/>
    <dgm:cxn modelId="{D63156A6-245D-4C58-A638-C9A18A84BEE3}" type="presOf" srcId="{7DBB2D48-B0FB-45D2-907B-31A8A4564223}" destId="{09C6178B-BF05-43A9-8B22-476DEFAEFCA3}" srcOrd="0" destOrd="0" presId="urn:microsoft.com/office/officeart/2024/3/layout/verticalVisualTextBlock1"/>
    <dgm:cxn modelId="{FD5742AE-176B-4421-8117-79A9468FD6A5}" type="presOf" srcId="{A34EB0A8-D8F9-439F-9F4D-A8E208E842E6}" destId="{1420C6D9-58BC-49B6-922D-AA312EE18BC3}" srcOrd="0" destOrd="0" presId="urn:microsoft.com/office/officeart/2024/3/layout/verticalVisualTextBlock1"/>
    <dgm:cxn modelId="{FE94A1CC-3873-42F5-A36E-CB5065F89A5A}" srcId="{7DBB2D48-B0FB-45D2-907B-31A8A4564223}" destId="{9F0C2A41-2D99-439A-93C0-031B0BD2397A}" srcOrd="0" destOrd="0" parTransId="{1BCDFCAC-9E4C-4C68-9D1A-2DAF1A56093D}" sibTransId="{5CA82DA9-6CFB-45D9-AFD3-DC4C98D676E5}"/>
    <dgm:cxn modelId="{6B5568EC-1E5F-45FA-AFC0-0BE672BDBB15}" srcId="{876749BB-3415-41DA-943A-66A1AF4A3F84}" destId="{5E336C7E-FBCC-46FA-99FB-1D8C3C28A15C}" srcOrd="0" destOrd="0" parTransId="{3E62A293-2F16-48C0-AA9E-7067A3644ABC}" sibTransId="{E3F86E9D-F6E8-4475-84A3-6848BC9734DB}"/>
    <dgm:cxn modelId="{CB42B1EC-DE12-41C0-840B-0BFAF1DDDA5E}" srcId="{0CC4E447-30A5-4F43-BDD2-5313E32E55DA}" destId="{7DBB2D48-B0FB-45D2-907B-31A8A4564223}" srcOrd="1" destOrd="0" parTransId="{34D49298-556D-4F33-917D-5D242053957B}" sibTransId="{A34EB0A8-D8F9-439F-9F4D-A8E208E842E6}"/>
    <dgm:cxn modelId="{974D40CE-3114-4F0C-B0B2-1A163A513231}" type="presParOf" srcId="{40AB2EC7-1AE2-4FF5-AC2E-F8B90496B05D}" destId="{42EB2192-2187-4872-B40F-C20C318CD52B}" srcOrd="0" destOrd="0" presId="urn:microsoft.com/office/officeart/2024/3/layout/verticalVisualTextBlock1"/>
    <dgm:cxn modelId="{CA127BB0-CB4C-422E-8A75-34D8F1E767EC}" type="presParOf" srcId="{42EB2192-2187-4872-B40F-C20C318CD52B}" destId="{72952E9D-8139-4C3A-94A2-D01E48AB29E5}" srcOrd="0" destOrd="0" presId="urn:microsoft.com/office/officeart/2024/3/layout/verticalVisualTextBlock1"/>
    <dgm:cxn modelId="{C604488F-28E4-4EF3-B790-816E214043C9}" type="presParOf" srcId="{42EB2192-2187-4872-B40F-C20C318CD52B}" destId="{1482B818-2134-4521-BBA4-A5495E8C45C0}" srcOrd="1" destOrd="0" presId="urn:microsoft.com/office/officeart/2024/3/layout/verticalVisualTextBlock1"/>
    <dgm:cxn modelId="{0CDD76D1-D864-42D3-A91D-01B0D40813D0}" type="presParOf" srcId="{42EB2192-2187-4872-B40F-C20C318CD52B}" destId="{8EC5C4C6-B92A-4266-AE6F-D3B5FAC87281}" srcOrd="2" destOrd="0" presId="urn:microsoft.com/office/officeart/2024/3/layout/verticalVisualTextBlock1"/>
    <dgm:cxn modelId="{A753338D-02D2-48AD-9D02-74D6D86FC2EA}" type="presParOf" srcId="{40AB2EC7-1AE2-4FF5-AC2E-F8B90496B05D}" destId="{EE7DFE7F-32BC-4BB4-A6A8-01A9F79C6823}" srcOrd="1" destOrd="0" presId="urn:microsoft.com/office/officeart/2024/3/layout/verticalVisualTextBlock1"/>
    <dgm:cxn modelId="{70EEEDB6-2568-49EC-917E-97B79F389F3B}" type="presParOf" srcId="{40AB2EC7-1AE2-4FF5-AC2E-F8B90496B05D}" destId="{D268D993-BE7E-4312-93CF-B68B27599597}" srcOrd="2" destOrd="0" presId="urn:microsoft.com/office/officeart/2024/3/layout/verticalVisualTextBlock1"/>
    <dgm:cxn modelId="{3D67F798-69B8-471E-BFD8-5C0BCAC0B530}" type="presParOf" srcId="{D268D993-BE7E-4312-93CF-B68B27599597}" destId="{C3DC6AF6-6E26-460F-89CB-C3AF7C627B3E}" srcOrd="0" destOrd="0" presId="urn:microsoft.com/office/officeart/2024/3/layout/verticalVisualTextBlock1"/>
    <dgm:cxn modelId="{A045B7B5-7E37-469C-BC0D-1D546E297449}" type="presParOf" srcId="{D268D993-BE7E-4312-93CF-B68B27599597}" destId="{09C6178B-BF05-43A9-8B22-476DEFAEFCA3}" srcOrd="1" destOrd="0" presId="urn:microsoft.com/office/officeart/2024/3/layout/verticalVisualTextBlock1"/>
    <dgm:cxn modelId="{A20A4E9B-903D-4237-AF4B-CDFF74D19A22}" type="presParOf" srcId="{D268D993-BE7E-4312-93CF-B68B27599597}" destId="{49953392-C821-4527-8BC8-AEB09679E7A5}" srcOrd="2" destOrd="0" presId="urn:microsoft.com/office/officeart/2024/3/layout/verticalVisualTextBlock1"/>
    <dgm:cxn modelId="{5539D87F-0724-4AAA-BC50-D815A10308D9}" type="presParOf" srcId="{40AB2EC7-1AE2-4FF5-AC2E-F8B90496B05D}" destId="{1420C6D9-58BC-49B6-922D-AA312EE18BC3}" srcOrd="3" destOrd="0" presId="urn:microsoft.com/office/officeart/2024/3/layout/verticalVisualTextBlock1"/>
    <dgm:cxn modelId="{3E58374A-F2F2-4B93-8EFD-A05C472EEADC}" type="presParOf" srcId="{40AB2EC7-1AE2-4FF5-AC2E-F8B90496B05D}" destId="{DD51A3D7-79F8-42DA-9501-9A9F655D33D6}" srcOrd="4" destOrd="0" presId="urn:microsoft.com/office/officeart/2024/3/layout/verticalVisualTextBlock1"/>
    <dgm:cxn modelId="{3872330B-0FFE-4542-B724-59076925269B}" type="presParOf" srcId="{DD51A3D7-79F8-42DA-9501-9A9F655D33D6}" destId="{1B0B1527-AE17-49F5-8EF8-228F269AD9D1}" srcOrd="0" destOrd="0" presId="urn:microsoft.com/office/officeart/2024/3/layout/verticalVisualTextBlock1"/>
    <dgm:cxn modelId="{C2046977-1CC3-42B5-A025-C2D7A8C2B799}" type="presParOf" srcId="{DD51A3D7-79F8-42DA-9501-9A9F655D33D6}" destId="{10E18B4D-4C06-4E7A-8BAA-DC2D17E9891A}" srcOrd="1" destOrd="0" presId="urn:microsoft.com/office/officeart/2024/3/layout/verticalVisualTextBlock1"/>
    <dgm:cxn modelId="{E4426C97-904B-4E8D-BB3E-44B3688526BE}" type="presParOf" srcId="{DD51A3D7-79F8-42DA-9501-9A9F655D33D6}" destId="{82646609-A1C6-4628-9CE6-20FA5FF07E6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EBAC76-B477-423D-9EB9-BD1DC1A459B1}"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1DFA43A9-C8A6-459E-9700-DDE95EA09A2D}">
      <dgm:prSet/>
      <dgm:spPr/>
      <dgm:t>
        <a:bodyPr/>
        <a:lstStyle/>
        <a:p>
          <a:pPr>
            <a:lnSpc>
              <a:spcPct val="100000"/>
            </a:lnSpc>
            <a:defRPr b="1"/>
          </a:pPr>
          <a:r>
            <a:rPr lang="en-US"/>
            <a:t>Email Campaigns</a:t>
          </a:r>
        </a:p>
      </dgm:t>
    </dgm:pt>
    <dgm:pt modelId="{E5F6F3E2-AC9C-484E-89EB-2CE57561A60D}" type="parTrans" cxnId="{880801A4-163D-460D-91DF-4BDE7BBD986C}">
      <dgm:prSet/>
      <dgm:spPr/>
      <dgm:t>
        <a:bodyPr/>
        <a:lstStyle/>
        <a:p>
          <a:endParaRPr lang="en-US"/>
        </a:p>
      </dgm:t>
    </dgm:pt>
    <dgm:pt modelId="{41D95F83-D774-4200-911B-072B0382A790}" type="sibTrans" cxnId="{880801A4-163D-460D-91DF-4BDE7BBD986C}">
      <dgm:prSet/>
      <dgm:spPr/>
      <dgm:t>
        <a:bodyPr/>
        <a:lstStyle/>
        <a:p>
          <a:pPr>
            <a:lnSpc>
              <a:spcPct val="100000"/>
            </a:lnSpc>
            <a:defRPr b="1"/>
          </a:pPr>
          <a:endParaRPr lang="en-US"/>
        </a:p>
      </dgm:t>
    </dgm:pt>
    <dgm:pt modelId="{FF1850A7-C6B1-4A3B-BC71-08ACF7B201FC}">
      <dgm:prSet/>
      <dgm:spPr/>
      <dgm:t>
        <a:bodyPr/>
        <a:lstStyle/>
        <a:p>
          <a:pPr>
            <a:lnSpc>
              <a:spcPct val="100000"/>
            </a:lnSpc>
          </a:pPr>
          <a:r>
            <a:rPr lang="en-US"/>
            <a:t>Email campaigns are a direct way to engage customers post-launch, allowing for personalized communication and updates.</a:t>
          </a:r>
        </a:p>
      </dgm:t>
    </dgm:pt>
    <dgm:pt modelId="{B3A49969-2347-4031-B318-43DE69BFBED4}" type="parTrans" cxnId="{B2C965E1-3967-4695-B0FF-AB438C9BF8AA}">
      <dgm:prSet/>
      <dgm:spPr/>
      <dgm:t>
        <a:bodyPr/>
        <a:lstStyle/>
        <a:p>
          <a:endParaRPr lang="en-US"/>
        </a:p>
      </dgm:t>
    </dgm:pt>
    <dgm:pt modelId="{BDFAF1B6-B3C2-4CD2-9DC1-8DF7249DBACA}" type="sibTrans" cxnId="{B2C965E1-3967-4695-B0FF-AB438C9BF8AA}">
      <dgm:prSet/>
      <dgm:spPr/>
      <dgm:t>
        <a:bodyPr/>
        <a:lstStyle/>
        <a:p>
          <a:endParaRPr lang="en-US"/>
        </a:p>
      </dgm:t>
    </dgm:pt>
    <dgm:pt modelId="{0FE03C0B-6A38-45A2-B3F9-DFBA6D108E8B}">
      <dgm:prSet/>
      <dgm:spPr/>
      <dgm:t>
        <a:bodyPr/>
        <a:lstStyle/>
        <a:p>
          <a:pPr>
            <a:lnSpc>
              <a:spcPct val="100000"/>
            </a:lnSpc>
            <a:defRPr b="1"/>
          </a:pPr>
          <a:r>
            <a:rPr lang="en-US"/>
            <a:t>Targeted Ads</a:t>
          </a:r>
        </a:p>
      </dgm:t>
    </dgm:pt>
    <dgm:pt modelId="{88C7E433-4001-4615-A3D0-E1C24F97FE6C}" type="parTrans" cxnId="{94E1D101-9EDC-4E0E-9BA9-34B45EF0D273}">
      <dgm:prSet/>
      <dgm:spPr/>
      <dgm:t>
        <a:bodyPr/>
        <a:lstStyle/>
        <a:p>
          <a:endParaRPr lang="en-US"/>
        </a:p>
      </dgm:t>
    </dgm:pt>
    <dgm:pt modelId="{F85C782B-A4B5-48EF-92EF-0E3BF0C69A94}" type="sibTrans" cxnId="{94E1D101-9EDC-4E0E-9BA9-34B45EF0D273}">
      <dgm:prSet/>
      <dgm:spPr/>
      <dgm:t>
        <a:bodyPr/>
        <a:lstStyle/>
        <a:p>
          <a:pPr>
            <a:lnSpc>
              <a:spcPct val="100000"/>
            </a:lnSpc>
            <a:defRPr b="1"/>
          </a:pPr>
          <a:endParaRPr lang="en-US"/>
        </a:p>
      </dgm:t>
    </dgm:pt>
    <dgm:pt modelId="{19CA45DF-745F-441E-8FC8-B35A7948A20E}">
      <dgm:prSet/>
      <dgm:spPr/>
      <dgm:t>
        <a:bodyPr/>
        <a:lstStyle/>
        <a:p>
          <a:pPr>
            <a:lnSpc>
              <a:spcPct val="100000"/>
            </a:lnSpc>
          </a:pPr>
          <a:r>
            <a:rPr lang="en-US"/>
            <a:t>Targeted ads help reach specific audiences based on their interests and behaviors, maximizing marketing effectiveness.</a:t>
          </a:r>
        </a:p>
      </dgm:t>
    </dgm:pt>
    <dgm:pt modelId="{62097716-5D55-42F7-BA9E-DF383B11F850}" type="parTrans" cxnId="{BD020977-98E2-409B-B7E8-B7419D971F11}">
      <dgm:prSet/>
      <dgm:spPr/>
      <dgm:t>
        <a:bodyPr/>
        <a:lstStyle/>
        <a:p>
          <a:endParaRPr lang="en-US"/>
        </a:p>
      </dgm:t>
    </dgm:pt>
    <dgm:pt modelId="{0CCC976C-204E-4183-A810-73E7FDC9D68A}" type="sibTrans" cxnId="{BD020977-98E2-409B-B7E8-B7419D971F11}">
      <dgm:prSet/>
      <dgm:spPr/>
      <dgm:t>
        <a:bodyPr/>
        <a:lstStyle/>
        <a:p>
          <a:endParaRPr lang="en-US"/>
        </a:p>
      </dgm:t>
    </dgm:pt>
    <dgm:pt modelId="{C5C5F2E6-0B50-4041-800B-A8F3B74077E2}">
      <dgm:prSet/>
      <dgm:spPr/>
      <dgm:t>
        <a:bodyPr/>
        <a:lstStyle/>
        <a:p>
          <a:pPr>
            <a:lnSpc>
              <a:spcPct val="100000"/>
            </a:lnSpc>
            <a:defRPr b="1"/>
          </a:pPr>
          <a:r>
            <a:rPr lang="en-US"/>
            <a:t>Social Media Promotions</a:t>
          </a:r>
        </a:p>
      </dgm:t>
    </dgm:pt>
    <dgm:pt modelId="{DCC8C641-CD29-43FB-AA1A-BFBB701EC8D9}" type="parTrans" cxnId="{93990E62-2CD1-48A2-B8C2-2F284A50DD02}">
      <dgm:prSet/>
      <dgm:spPr/>
      <dgm:t>
        <a:bodyPr/>
        <a:lstStyle/>
        <a:p>
          <a:endParaRPr lang="en-US"/>
        </a:p>
      </dgm:t>
    </dgm:pt>
    <dgm:pt modelId="{B928C9A9-6F39-4264-8E9E-61B9B9D7C0B2}" type="sibTrans" cxnId="{93990E62-2CD1-48A2-B8C2-2F284A50DD02}">
      <dgm:prSet/>
      <dgm:spPr/>
      <dgm:t>
        <a:bodyPr/>
        <a:lstStyle/>
        <a:p>
          <a:endParaRPr lang="en-US"/>
        </a:p>
      </dgm:t>
    </dgm:pt>
    <dgm:pt modelId="{1DE86239-EF0E-42DF-A4CA-272E4B1D09AB}">
      <dgm:prSet/>
      <dgm:spPr/>
      <dgm:t>
        <a:bodyPr/>
        <a:lstStyle/>
        <a:p>
          <a:pPr>
            <a:lnSpc>
              <a:spcPct val="100000"/>
            </a:lnSpc>
          </a:pPr>
          <a:r>
            <a:rPr lang="en-US"/>
            <a:t>Social media promotions can boost brand visibility and customer engagement through interactive content and community building.</a:t>
          </a:r>
        </a:p>
      </dgm:t>
    </dgm:pt>
    <dgm:pt modelId="{C3205716-9111-40EC-8DDD-E677843CCFD9}" type="parTrans" cxnId="{5D701A4B-ACDB-4F40-8A1A-0B83DB6DF5FE}">
      <dgm:prSet/>
      <dgm:spPr/>
      <dgm:t>
        <a:bodyPr/>
        <a:lstStyle/>
        <a:p>
          <a:endParaRPr lang="en-US"/>
        </a:p>
      </dgm:t>
    </dgm:pt>
    <dgm:pt modelId="{F3A2FA98-8F84-468C-837E-1A977083BBF5}" type="sibTrans" cxnId="{5D701A4B-ACDB-4F40-8A1A-0B83DB6DF5FE}">
      <dgm:prSet/>
      <dgm:spPr/>
      <dgm:t>
        <a:bodyPr/>
        <a:lstStyle/>
        <a:p>
          <a:endParaRPr lang="en-US"/>
        </a:p>
      </dgm:t>
    </dgm:pt>
    <dgm:pt modelId="{6CF17B6B-569E-4BF7-8527-C9EE4C41CF68}" type="pres">
      <dgm:prSet presAssocID="{46EBAC76-B477-423D-9EB9-BD1DC1A459B1}" presName="Root" presStyleCnt="0">
        <dgm:presLayoutVars>
          <dgm:dir/>
          <dgm:resizeHandles val="exact"/>
        </dgm:presLayoutVars>
      </dgm:prSet>
      <dgm:spPr/>
    </dgm:pt>
    <dgm:pt modelId="{4E4C3E6E-B781-4168-BC93-D6B8568FC5EB}" type="pres">
      <dgm:prSet presAssocID="{1DFA43A9-C8A6-459E-9700-DDE95EA09A2D}" presName="Composite" presStyleCnt="0"/>
      <dgm:spPr/>
    </dgm:pt>
    <dgm:pt modelId="{51203216-8628-4B05-9C29-842742457BAF}" type="pres">
      <dgm:prSet presAssocID="{1DFA43A9-C8A6-459E-9700-DDE95EA09A2D}"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33252" b="3"/>
          <a:stretch/>
        </a:blipFill>
      </dgm:spPr>
      <dgm:extLst>
        <a:ext uri="{E40237B7-FDA0-4F09-8148-C483321AD2D9}">
          <dgm14:cNvPr xmlns:dgm14="http://schemas.microsoft.com/office/drawing/2010/diagram" id="0" name="" descr="E-MAIL MARKETING CONCEPT"/>
        </a:ext>
      </dgm:extLst>
    </dgm:pt>
    <dgm:pt modelId="{02F9D977-AFDB-4115-8DE1-1C8FB2F08E73}" type="pres">
      <dgm:prSet presAssocID="{1DFA43A9-C8A6-459E-9700-DDE95EA09A2D}" presName="Subtitle" presStyleLbl="revTx" presStyleIdx="0" presStyleCnt="6">
        <dgm:presLayoutVars>
          <dgm:chMax val="0"/>
          <dgm:bulletEnabled/>
        </dgm:presLayoutVars>
      </dgm:prSet>
      <dgm:spPr/>
    </dgm:pt>
    <dgm:pt modelId="{ACDF1E94-1C1E-47A3-936E-E7067C3209C7}" type="pres">
      <dgm:prSet presAssocID="{1DFA43A9-C8A6-459E-9700-DDE95EA09A2D}" presName="Description" presStyleLbl="revTx" presStyleIdx="1" presStyleCnt="6">
        <dgm:presLayoutVars>
          <dgm:bulletEnabled/>
        </dgm:presLayoutVars>
      </dgm:prSet>
      <dgm:spPr/>
    </dgm:pt>
    <dgm:pt modelId="{39E1C17F-BCF9-428A-9701-BAC99CE6F0DA}" type="pres">
      <dgm:prSet presAssocID="{41D95F83-D774-4200-911B-072B0382A790}" presName="sibTrans" presStyleLbl="sibTrans2D1" presStyleIdx="0" presStyleCnt="0"/>
      <dgm:spPr/>
    </dgm:pt>
    <dgm:pt modelId="{ABC5BB71-DCDF-44B1-8502-9EA067B62F8E}" type="pres">
      <dgm:prSet presAssocID="{0FE03C0B-6A38-45A2-B3F9-DFBA6D108E8B}" presName="Composite" presStyleCnt="0"/>
      <dgm:spPr/>
    </dgm:pt>
    <dgm:pt modelId="{C8E31A3F-DC5E-4D6F-82C3-4B93F0F461BE}" type="pres">
      <dgm:prSet presAssocID="{0FE03C0B-6A38-45A2-B3F9-DFBA6D108E8B}"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0037" r="9957" b="-7"/>
          <a:stretch/>
        </a:blipFill>
      </dgm:spPr>
      <dgm:extLst>
        <a:ext uri="{E40237B7-FDA0-4F09-8148-C483321AD2D9}">
          <dgm14:cNvPr xmlns:dgm14="http://schemas.microsoft.com/office/drawing/2010/diagram" id="0" name="" descr="Arrow on Target"/>
        </a:ext>
      </dgm:extLst>
    </dgm:pt>
    <dgm:pt modelId="{A97EAA0E-A45F-4388-828D-2AF3941ECF51}" type="pres">
      <dgm:prSet presAssocID="{0FE03C0B-6A38-45A2-B3F9-DFBA6D108E8B}" presName="Subtitle" presStyleLbl="revTx" presStyleIdx="2" presStyleCnt="6">
        <dgm:presLayoutVars>
          <dgm:chMax val="0"/>
          <dgm:bulletEnabled/>
        </dgm:presLayoutVars>
      </dgm:prSet>
      <dgm:spPr/>
    </dgm:pt>
    <dgm:pt modelId="{98C6A0A7-37C1-4112-BFF3-093B63E9884F}" type="pres">
      <dgm:prSet presAssocID="{0FE03C0B-6A38-45A2-B3F9-DFBA6D108E8B}" presName="Description" presStyleLbl="revTx" presStyleIdx="3" presStyleCnt="6">
        <dgm:presLayoutVars>
          <dgm:bulletEnabled/>
        </dgm:presLayoutVars>
      </dgm:prSet>
      <dgm:spPr/>
    </dgm:pt>
    <dgm:pt modelId="{2FEB6A3E-05D0-4E6C-84BF-9785DDD57B38}" type="pres">
      <dgm:prSet presAssocID="{F85C782B-A4B5-48EF-92EF-0E3BF0C69A94}" presName="sibTrans" presStyleLbl="sibTrans2D1" presStyleIdx="0" presStyleCnt="0"/>
      <dgm:spPr/>
    </dgm:pt>
    <dgm:pt modelId="{E7D1E3D9-C184-4B9F-8237-164FD0C70A47}" type="pres">
      <dgm:prSet presAssocID="{C5C5F2E6-0B50-4041-800B-A8F3B74077E2}" presName="Composite" presStyleCnt="0"/>
      <dgm:spPr/>
    </dgm:pt>
    <dgm:pt modelId="{6B5BCCA5-4B40-423C-BC9F-6157013A16FF}" type="pres">
      <dgm:prSet presAssocID="{C5C5F2E6-0B50-4041-800B-A8F3B74077E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33995" b="-7"/>
          <a:stretch/>
        </a:blipFill>
      </dgm:spPr>
      <dgm:extLst>
        <a:ext uri="{E40237B7-FDA0-4F09-8148-C483321AD2D9}">
          <dgm14:cNvPr xmlns:dgm14="http://schemas.microsoft.com/office/drawing/2010/diagram" id="0" name="" descr="Pencil with paper blank"/>
        </a:ext>
      </dgm:extLst>
    </dgm:pt>
    <dgm:pt modelId="{A164FF82-90C7-409D-B48A-11DFC9E51120}" type="pres">
      <dgm:prSet presAssocID="{C5C5F2E6-0B50-4041-800B-A8F3B74077E2}" presName="Subtitle" presStyleLbl="revTx" presStyleIdx="4" presStyleCnt="6">
        <dgm:presLayoutVars>
          <dgm:chMax val="0"/>
          <dgm:bulletEnabled/>
        </dgm:presLayoutVars>
      </dgm:prSet>
      <dgm:spPr/>
    </dgm:pt>
    <dgm:pt modelId="{1AA3B808-D888-478E-8EAB-76AA24D60BEA}" type="pres">
      <dgm:prSet presAssocID="{C5C5F2E6-0B50-4041-800B-A8F3B74077E2}" presName="Description" presStyleLbl="revTx" presStyleIdx="5" presStyleCnt="6">
        <dgm:presLayoutVars>
          <dgm:bulletEnabled/>
        </dgm:presLayoutVars>
      </dgm:prSet>
      <dgm:spPr/>
    </dgm:pt>
  </dgm:ptLst>
  <dgm:cxnLst>
    <dgm:cxn modelId="{94E1D101-9EDC-4E0E-9BA9-34B45EF0D273}" srcId="{46EBAC76-B477-423D-9EB9-BD1DC1A459B1}" destId="{0FE03C0B-6A38-45A2-B3F9-DFBA6D108E8B}" srcOrd="1" destOrd="0" parTransId="{88C7E433-4001-4615-A3D0-E1C24F97FE6C}" sibTransId="{F85C782B-A4B5-48EF-92EF-0E3BF0C69A94}"/>
    <dgm:cxn modelId="{E562190B-198C-4F17-A245-321521C0277E}" type="presOf" srcId="{1DE86239-EF0E-42DF-A4CA-272E4B1D09AB}" destId="{1AA3B808-D888-478E-8EAB-76AA24D60BEA}" srcOrd="0" destOrd="0" presId="urn:microsoft.com/office/officeart/2024/3/layout/verticalVisualTextBlock1"/>
    <dgm:cxn modelId="{07D9F439-E4CA-4BF0-86DB-971C2C831BE1}" type="presOf" srcId="{C5C5F2E6-0B50-4041-800B-A8F3B74077E2}" destId="{A164FF82-90C7-409D-B48A-11DFC9E51120}" srcOrd="0" destOrd="0" presId="urn:microsoft.com/office/officeart/2024/3/layout/verticalVisualTextBlock1"/>
    <dgm:cxn modelId="{4AEE963E-4BC3-407D-886D-BE1F8F798111}" type="presOf" srcId="{41D95F83-D774-4200-911B-072B0382A790}" destId="{39E1C17F-BCF9-428A-9701-BAC99CE6F0DA}" srcOrd="0" destOrd="0" presId="urn:microsoft.com/office/officeart/2024/3/layout/verticalVisualTextBlock1"/>
    <dgm:cxn modelId="{C136995E-406E-4483-A3C5-85F442584FDE}" type="presOf" srcId="{F85C782B-A4B5-48EF-92EF-0E3BF0C69A94}" destId="{2FEB6A3E-05D0-4E6C-84BF-9785DDD57B38}" srcOrd="0" destOrd="0" presId="urn:microsoft.com/office/officeart/2024/3/layout/verticalVisualTextBlock1"/>
    <dgm:cxn modelId="{93990E62-2CD1-48A2-B8C2-2F284A50DD02}" srcId="{46EBAC76-B477-423D-9EB9-BD1DC1A459B1}" destId="{C5C5F2E6-0B50-4041-800B-A8F3B74077E2}" srcOrd="2" destOrd="0" parTransId="{DCC8C641-CD29-43FB-AA1A-BFBB701EC8D9}" sibTransId="{B928C9A9-6F39-4264-8E9E-61B9B9D7C0B2}"/>
    <dgm:cxn modelId="{5D701A4B-ACDB-4F40-8A1A-0B83DB6DF5FE}" srcId="{C5C5F2E6-0B50-4041-800B-A8F3B74077E2}" destId="{1DE86239-EF0E-42DF-A4CA-272E4B1D09AB}" srcOrd="0" destOrd="0" parTransId="{C3205716-9111-40EC-8DDD-E677843CCFD9}" sibTransId="{F3A2FA98-8F84-468C-837E-1A977083BBF5}"/>
    <dgm:cxn modelId="{BD020977-98E2-409B-B7E8-B7419D971F11}" srcId="{0FE03C0B-6A38-45A2-B3F9-DFBA6D108E8B}" destId="{19CA45DF-745F-441E-8FC8-B35A7948A20E}" srcOrd="0" destOrd="0" parTransId="{62097716-5D55-42F7-BA9E-DF383B11F850}" sibTransId="{0CCC976C-204E-4183-A810-73E7FDC9D68A}"/>
    <dgm:cxn modelId="{45251858-4514-4294-B19A-1E0AFA234284}" type="presOf" srcId="{19CA45DF-745F-441E-8FC8-B35A7948A20E}" destId="{98C6A0A7-37C1-4112-BFF3-093B63E9884F}" srcOrd="0" destOrd="0" presId="urn:microsoft.com/office/officeart/2024/3/layout/verticalVisualTextBlock1"/>
    <dgm:cxn modelId="{25CA819B-75D4-4FB0-8277-869F3041C2D8}" type="presOf" srcId="{FF1850A7-C6B1-4A3B-BC71-08ACF7B201FC}" destId="{ACDF1E94-1C1E-47A3-936E-E7067C3209C7}" srcOrd="0" destOrd="0" presId="urn:microsoft.com/office/officeart/2024/3/layout/verticalVisualTextBlock1"/>
    <dgm:cxn modelId="{880801A4-163D-460D-91DF-4BDE7BBD986C}" srcId="{46EBAC76-B477-423D-9EB9-BD1DC1A459B1}" destId="{1DFA43A9-C8A6-459E-9700-DDE95EA09A2D}" srcOrd="0" destOrd="0" parTransId="{E5F6F3E2-AC9C-484E-89EB-2CE57561A60D}" sibTransId="{41D95F83-D774-4200-911B-072B0382A790}"/>
    <dgm:cxn modelId="{73B37FAA-C704-4C72-ABF3-EDE18E114707}" type="presOf" srcId="{0FE03C0B-6A38-45A2-B3F9-DFBA6D108E8B}" destId="{A97EAA0E-A45F-4388-828D-2AF3941ECF51}" srcOrd="0" destOrd="0" presId="urn:microsoft.com/office/officeart/2024/3/layout/verticalVisualTextBlock1"/>
    <dgm:cxn modelId="{A8F1E7D9-A021-4CC2-B286-5BE2FAC9FB67}" type="presOf" srcId="{1DFA43A9-C8A6-459E-9700-DDE95EA09A2D}" destId="{02F9D977-AFDB-4115-8DE1-1C8FB2F08E73}" srcOrd="0" destOrd="0" presId="urn:microsoft.com/office/officeart/2024/3/layout/verticalVisualTextBlock1"/>
    <dgm:cxn modelId="{B2C965E1-3967-4695-B0FF-AB438C9BF8AA}" srcId="{1DFA43A9-C8A6-459E-9700-DDE95EA09A2D}" destId="{FF1850A7-C6B1-4A3B-BC71-08ACF7B201FC}" srcOrd="0" destOrd="0" parTransId="{B3A49969-2347-4031-B318-43DE69BFBED4}" sibTransId="{BDFAF1B6-B3C2-4CD2-9DC1-8DF7249DBACA}"/>
    <dgm:cxn modelId="{1B992FEE-CDB7-4275-87DD-3EF067BE628E}" type="presOf" srcId="{46EBAC76-B477-423D-9EB9-BD1DC1A459B1}" destId="{6CF17B6B-569E-4BF7-8527-C9EE4C41CF68}" srcOrd="0" destOrd="0" presId="urn:microsoft.com/office/officeart/2024/3/layout/verticalVisualTextBlock1"/>
    <dgm:cxn modelId="{D4F969C4-C6EA-4540-8550-E5146A5A0309}" type="presParOf" srcId="{6CF17B6B-569E-4BF7-8527-C9EE4C41CF68}" destId="{4E4C3E6E-B781-4168-BC93-D6B8568FC5EB}" srcOrd="0" destOrd="0" presId="urn:microsoft.com/office/officeart/2024/3/layout/verticalVisualTextBlock1"/>
    <dgm:cxn modelId="{562701D4-16A4-4FC9-B5B0-79FE92FBFA5E}" type="presParOf" srcId="{4E4C3E6E-B781-4168-BC93-D6B8568FC5EB}" destId="{51203216-8628-4B05-9C29-842742457BAF}" srcOrd="0" destOrd="0" presId="urn:microsoft.com/office/officeart/2024/3/layout/verticalVisualTextBlock1"/>
    <dgm:cxn modelId="{3AF3D1D1-885E-49AC-A5BC-BC2D7CE02ED0}" type="presParOf" srcId="{4E4C3E6E-B781-4168-BC93-D6B8568FC5EB}" destId="{02F9D977-AFDB-4115-8DE1-1C8FB2F08E73}" srcOrd="1" destOrd="0" presId="urn:microsoft.com/office/officeart/2024/3/layout/verticalVisualTextBlock1"/>
    <dgm:cxn modelId="{F5B470C5-C5AA-4AA5-95C1-E43354BA2176}" type="presParOf" srcId="{4E4C3E6E-B781-4168-BC93-D6B8568FC5EB}" destId="{ACDF1E94-1C1E-47A3-936E-E7067C3209C7}" srcOrd="2" destOrd="0" presId="urn:microsoft.com/office/officeart/2024/3/layout/verticalVisualTextBlock1"/>
    <dgm:cxn modelId="{F3AE3612-916A-49E5-9993-7B9A34F831DD}" type="presParOf" srcId="{6CF17B6B-569E-4BF7-8527-C9EE4C41CF68}" destId="{39E1C17F-BCF9-428A-9701-BAC99CE6F0DA}" srcOrd="1" destOrd="0" presId="urn:microsoft.com/office/officeart/2024/3/layout/verticalVisualTextBlock1"/>
    <dgm:cxn modelId="{0250BC65-A67E-4E84-97AB-8ABC79B3B099}" type="presParOf" srcId="{6CF17B6B-569E-4BF7-8527-C9EE4C41CF68}" destId="{ABC5BB71-DCDF-44B1-8502-9EA067B62F8E}" srcOrd="2" destOrd="0" presId="urn:microsoft.com/office/officeart/2024/3/layout/verticalVisualTextBlock1"/>
    <dgm:cxn modelId="{73AD4F97-1ADD-4449-B0B3-50FEB7F96506}" type="presParOf" srcId="{ABC5BB71-DCDF-44B1-8502-9EA067B62F8E}" destId="{C8E31A3F-DC5E-4D6F-82C3-4B93F0F461BE}" srcOrd="0" destOrd="0" presId="urn:microsoft.com/office/officeart/2024/3/layout/verticalVisualTextBlock1"/>
    <dgm:cxn modelId="{B48BE5CC-847B-40D4-A30A-2AC25F4FD3D1}" type="presParOf" srcId="{ABC5BB71-DCDF-44B1-8502-9EA067B62F8E}" destId="{A97EAA0E-A45F-4388-828D-2AF3941ECF51}" srcOrd="1" destOrd="0" presId="urn:microsoft.com/office/officeart/2024/3/layout/verticalVisualTextBlock1"/>
    <dgm:cxn modelId="{05722641-F00F-450F-9390-CB10E77BFBC9}" type="presParOf" srcId="{ABC5BB71-DCDF-44B1-8502-9EA067B62F8E}" destId="{98C6A0A7-37C1-4112-BFF3-093B63E9884F}" srcOrd="2" destOrd="0" presId="urn:microsoft.com/office/officeart/2024/3/layout/verticalVisualTextBlock1"/>
    <dgm:cxn modelId="{285EC9F0-9BEC-4372-A877-FC7B8077E872}" type="presParOf" srcId="{6CF17B6B-569E-4BF7-8527-C9EE4C41CF68}" destId="{2FEB6A3E-05D0-4E6C-84BF-9785DDD57B38}" srcOrd="3" destOrd="0" presId="urn:microsoft.com/office/officeart/2024/3/layout/verticalVisualTextBlock1"/>
    <dgm:cxn modelId="{B7453DA8-6932-45AA-A271-0B998E31E3C1}" type="presParOf" srcId="{6CF17B6B-569E-4BF7-8527-C9EE4C41CF68}" destId="{E7D1E3D9-C184-4B9F-8237-164FD0C70A47}" srcOrd="4" destOrd="0" presId="urn:microsoft.com/office/officeart/2024/3/layout/verticalVisualTextBlock1"/>
    <dgm:cxn modelId="{7B6CF689-FDC2-440F-A360-75807DD106D3}" type="presParOf" srcId="{E7D1E3D9-C184-4B9F-8237-164FD0C70A47}" destId="{6B5BCCA5-4B40-423C-BC9F-6157013A16FF}" srcOrd="0" destOrd="0" presId="urn:microsoft.com/office/officeart/2024/3/layout/verticalVisualTextBlock1"/>
    <dgm:cxn modelId="{1A0535FB-0BCF-4AD7-BFCD-274C25DA09A1}" type="presParOf" srcId="{E7D1E3D9-C184-4B9F-8237-164FD0C70A47}" destId="{A164FF82-90C7-409D-B48A-11DFC9E51120}" srcOrd="1" destOrd="0" presId="urn:microsoft.com/office/officeart/2024/3/layout/verticalVisualTextBlock1"/>
    <dgm:cxn modelId="{266B0739-445D-46A6-9672-9F2018D651DB}" type="presParOf" srcId="{E7D1E3D9-C184-4B9F-8237-164FD0C70A47}" destId="{1AA3B808-D888-478E-8EAB-76AA24D60BE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620368-C7EC-4FAB-B884-CCC83C6C368B}"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AB81B0C-A47A-4B71-A413-3D1F999F69F1}">
      <dgm:prSet/>
      <dgm:spPr/>
      <dgm:t>
        <a:bodyPr/>
        <a:lstStyle/>
        <a:p>
          <a:pPr>
            <a:lnSpc>
              <a:spcPct val="100000"/>
            </a:lnSpc>
            <a:defRPr b="1"/>
          </a:pPr>
          <a:r>
            <a:rPr lang="en-US"/>
            <a:t>Strategic Market Understanding</a:t>
          </a:r>
        </a:p>
      </dgm:t>
    </dgm:pt>
    <dgm:pt modelId="{9F0809B4-886B-4173-AA4A-A1E8BC2DED57}" type="parTrans" cxnId="{2FB7843B-CF2C-4CBC-BBCA-48CBB44ADAD8}">
      <dgm:prSet/>
      <dgm:spPr/>
      <dgm:t>
        <a:bodyPr/>
        <a:lstStyle/>
        <a:p>
          <a:endParaRPr lang="en-US"/>
        </a:p>
      </dgm:t>
    </dgm:pt>
    <dgm:pt modelId="{84BD3D97-99B4-42BC-9510-FC29E99748FA}" type="sibTrans" cxnId="{2FB7843B-CF2C-4CBC-BBCA-48CBB44ADAD8}">
      <dgm:prSet/>
      <dgm:spPr/>
      <dgm:t>
        <a:bodyPr/>
        <a:lstStyle/>
        <a:p>
          <a:pPr>
            <a:lnSpc>
              <a:spcPct val="100000"/>
            </a:lnSpc>
            <a:defRPr b="1"/>
          </a:pPr>
          <a:endParaRPr lang="en-US"/>
        </a:p>
      </dgm:t>
    </dgm:pt>
    <dgm:pt modelId="{537C6518-C48B-45AD-864F-43E633BF7E69}">
      <dgm:prSet/>
      <dgm:spPr/>
      <dgm:t>
        <a:bodyPr/>
        <a:lstStyle/>
        <a:p>
          <a:pPr>
            <a:lnSpc>
              <a:spcPct val="100000"/>
            </a:lnSpc>
          </a:pPr>
          <a:r>
            <a:rPr lang="en-US"/>
            <a:t>Understanding the market is crucial for launching a new sports drink. It helps in identifying customer needs and preferences.</a:t>
          </a:r>
        </a:p>
      </dgm:t>
    </dgm:pt>
    <dgm:pt modelId="{9BA6754E-2718-486B-9931-C2580C31E226}" type="parTrans" cxnId="{2F448D19-2A55-436C-A685-0CE6D760E9DF}">
      <dgm:prSet/>
      <dgm:spPr/>
      <dgm:t>
        <a:bodyPr/>
        <a:lstStyle/>
        <a:p>
          <a:endParaRPr lang="en-US"/>
        </a:p>
      </dgm:t>
    </dgm:pt>
    <dgm:pt modelId="{BAA19E7C-BF83-4013-BBB2-71E0D34676F8}" type="sibTrans" cxnId="{2F448D19-2A55-436C-A685-0CE6D760E9DF}">
      <dgm:prSet/>
      <dgm:spPr/>
      <dgm:t>
        <a:bodyPr/>
        <a:lstStyle/>
        <a:p>
          <a:endParaRPr lang="en-US"/>
        </a:p>
      </dgm:t>
    </dgm:pt>
    <dgm:pt modelId="{5C536EDE-A94F-4432-ABCE-8BD63E73F65F}">
      <dgm:prSet/>
      <dgm:spPr/>
      <dgm:t>
        <a:bodyPr/>
        <a:lstStyle/>
        <a:p>
          <a:pPr>
            <a:lnSpc>
              <a:spcPct val="100000"/>
            </a:lnSpc>
            <a:defRPr b="1"/>
          </a:pPr>
          <a:r>
            <a:rPr lang="en-US"/>
            <a:t>Effective Marketing Strategies</a:t>
          </a:r>
        </a:p>
      </dgm:t>
    </dgm:pt>
    <dgm:pt modelId="{D0311F08-67AB-4BF2-85AD-26432BF64338}" type="parTrans" cxnId="{AC9CF168-1B36-4906-86D4-DEB806B8AB59}">
      <dgm:prSet/>
      <dgm:spPr/>
      <dgm:t>
        <a:bodyPr/>
        <a:lstStyle/>
        <a:p>
          <a:endParaRPr lang="en-US"/>
        </a:p>
      </dgm:t>
    </dgm:pt>
    <dgm:pt modelId="{2654950A-9FFA-465F-87D9-4513A7FFBDBD}" type="sibTrans" cxnId="{AC9CF168-1B36-4906-86D4-DEB806B8AB59}">
      <dgm:prSet/>
      <dgm:spPr/>
      <dgm:t>
        <a:bodyPr/>
        <a:lstStyle/>
        <a:p>
          <a:pPr>
            <a:lnSpc>
              <a:spcPct val="100000"/>
            </a:lnSpc>
            <a:defRPr b="1"/>
          </a:pPr>
          <a:endParaRPr lang="en-US"/>
        </a:p>
      </dgm:t>
    </dgm:pt>
    <dgm:pt modelId="{0FE6CC1E-B7CB-4456-8C2F-B33D35AE50FA}">
      <dgm:prSet/>
      <dgm:spPr/>
      <dgm:t>
        <a:bodyPr/>
        <a:lstStyle/>
        <a:p>
          <a:pPr>
            <a:lnSpc>
              <a:spcPct val="100000"/>
            </a:lnSpc>
          </a:pPr>
          <a:r>
            <a:rPr lang="en-US"/>
            <a:t>Implementing effective marketing strategies is essential for a successful product launch. This includes promotions, branding, and advertising.</a:t>
          </a:r>
        </a:p>
      </dgm:t>
    </dgm:pt>
    <dgm:pt modelId="{CA750CFB-5E5D-40FF-8437-C6E4AE14E818}" type="parTrans" cxnId="{24241C85-35B6-4303-AF1C-176863EA00B6}">
      <dgm:prSet/>
      <dgm:spPr/>
      <dgm:t>
        <a:bodyPr/>
        <a:lstStyle/>
        <a:p>
          <a:endParaRPr lang="en-US"/>
        </a:p>
      </dgm:t>
    </dgm:pt>
    <dgm:pt modelId="{3AD9B17A-F4E2-4932-8244-90160C43124B}" type="sibTrans" cxnId="{24241C85-35B6-4303-AF1C-176863EA00B6}">
      <dgm:prSet/>
      <dgm:spPr/>
      <dgm:t>
        <a:bodyPr/>
        <a:lstStyle/>
        <a:p>
          <a:endParaRPr lang="en-US"/>
        </a:p>
      </dgm:t>
    </dgm:pt>
    <dgm:pt modelId="{EB6A07DF-0279-499B-BECF-F2D0213E94DA}">
      <dgm:prSet/>
      <dgm:spPr/>
      <dgm:t>
        <a:bodyPr/>
        <a:lstStyle/>
        <a:p>
          <a:pPr>
            <a:lnSpc>
              <a:spcPct val="100000"/>
            </a:lnSpc>
            <a:defRPr b="1"/>
          </a:pPr>
          <a:r>
            <a:rPr lang="en-US"/>
            <a:t>Post-Launch Engagement</a:t>
          </a:r>
        </a:p>
      </dgm:t>
    </dgm:pt>
    <dgm:pt modelId="{0FC24A2F-31D7-4176-9AB9-E0F810440607}" type="parTrans" cxnId="{20BB6173-B628-4DCA-82BB-0E5F60D35927}">
      <dgm:prSet/>
      <dgm:spPr/>
      <dgm:t>
        <a:bodyPr/>
        <a:lstStyle/>
        <a:p>
          <a:endParaRPr lang="en-US"/>
        </a:p>
      </dgm:t>
    </dgm:pt>
    <dgm:pt modelId="{B5420DF9-1E72-4FAA-AC33-B9B5675604A2}" type="sibTrans" cxnId="{20BB6173-B628-4DCA-82BB-0E5F60D35927}">
      <dgm:prSet/>
      <dgm:spPr/>
      <dgm:t>
        <a:bodyPr/>
        <a:lstStyle/>
        <a:p>
          <a:endParaRPr lang="en-US"/>
        </a:p>
      </dgm:t>
    </dgm:pt>
    <dgm:pt modelId="{14169A41-764F-4476-91E5-8F8FB3432760}">
      <dgm:prSet/>
      <dgm:spPr/>
      <dgm:t>
        <a:bodyPr/>
        <a:lstStyle/>
        <a:p>
          <a:pPr>
            <a:lnSpc>
              <a:spcPct val="100000"/>
            </a:lnSpc>
          </a:pPr>
          <a:r>
            <a:rPr lang="en-US"/>
            <a:t>Post-launch engagement with customers is vital for building lasting relationships. It ensures customer loyalty and ongoing feedback.</a:t>
          </a:r>
        </a:p>
      </dgm:t>
    </dgm:pt>
    <dgm:pt modelId="{7E539AF5-219D-4ED4-ADEF-9D0412DCD854}" type="parTrans" cxnId="{6224C3E3-F81D-4C44-93CB-91A2A48AD2E4}">
      <dgm:prSet/>
      <dgm:spPr/>
      <dgm:t>
        <a:bodyPr/>
        <a:lstStyle/>
        <a:p>
          <a:endParaRPr lang="en-US"/>
        </a:p>
      </dgm:t>
    </dgm:pt>
    <dgm:pt modelId="{B163EC66-96D6-4D15-802C-F15AE1E86490}" type="sibTrans" cxnId="{6224C3E3-F81D-4C44-93CB-91A2A48AD2E4}">
      <dgm:prSet/>
      <dgm:spPr/>
      <dgm:t>
        <a:bodyPr/>
        <a:lstStyle/>
        <a:p>
          <a:endParaRPr lang="en-US"/>
        </a:p>
      </dgm:t>
    </dgm:pt>
    <dgm:pt modelId="{35E79DAD-E96B-4BB6-9FC5-E216AC0FB3BE}" type="pres">
      <dgm:prSet presAssocID="{75620368-C7EC-4FAB-B884-CCC83C6C368B}" presName="Name0" presStyleCnt="0">
        <dgm:presLayoutVars>
          <dgm:dir/>
          <dgm:resizeHandles val="exact"/>
        </dgm:presLayoutVars>
      </dgm:prSet>
      <dgm:spPr/>
    </dgm:pt>
    <dgm:pt modelId="{D78E78AA-0454-41F8-9036-8BB280A4E4FD}" type="pres">
      <dgm:prSet presAssocID="{1AB81B0C-A47A-4B71-A413-3D1F999F69F1}" presName="compNode" presStyleCnt="0"/>
      <dgm:spPr/>
    </dgm:pt>
    <dgm:pt modelId="{FF9A9340-F3A6-413A-9504-B46C17142B54}" type="pres">
      <dgm:prSet presAssocID="{1AB81B0C-A47A-4B71-A413-3D1F999F69F1}" presName="pictRect" presStyleLbl="revTx" presStyleIdx="0" presStyleCnt="6">
        <dgm:presLayoutVars>
          <dgm:chMax val="0"/>
          <dgm:bulletEnabled/>
        </dgm:presLayoutVars>
      </dgm:prSet>
      <dgm:spPr/>
    </dgm:pt>
    <dgm:pt modelId="{2B010320-F5D0-4290-99B3-ADB63C4817FB}" type="pres">
      <dgm:prSet presAssocID="{1AB81B0C-A47A-4B71-A413-3D1F999F69F1}" presName="textRect" presStyleLbl="revTx" presStyleIdx="1" presStyleCnt="6">
        <dgm:presLayoutVars>
          <dgm:bulletEnabled/>
        </dgm:presLayoutVars>
      </dgm:prSet>
      <dgm:spPr/>
    </dgm:pt>
    <dgm:pt modelId="{1E836161-046C-45AA-8FD3-1936EFB406B3}" type="pres">
      <dgm:prSet presAssocID="{84BD3D97-99B4-42BC-9510-FC29E99748FA}" presName="sibTrans" presStyleLbl="sibTrans2D1" presStyleIdx="0" presStyleCnt="0"/>
      <dgm:spPr/>
    </dgm:pt>
    <dgm:pt modelId="{4F6C746F-3F3D-426B-B24D-3056D7074F0D}" type="pres">
      <dgm:prSet presAssocID="{5C536EDE-A94F-4432-ABCE-8BD63E73F65F}" presName="compNode" presStyleCnt="0"/>
      <dgm:spPr/>
    </dgm:pt>
    <dgm:pt modelId="{4BFD21A8-22E6-4848-A59C-1ADADD0E8FAD}" type="pres">
      <dgm:prSet presAssocID="{5C536EDE-A94F-4432-ABCE-8BD63E73F65F}" presName="pictRect" presStyleLbl="revTx" presStyleIdx="2" presStyleCnt="6">
        <dgm:presLayoutVars>
          <dgm:chMax val="0"/>
          <dgm:bulletEnabled/>
        </dgm:presLayoutVars>
      </dgm:prSet>
      <dgm:spPr/>
    </dgm:pt>
    <dgm:pt modelId="{7AA95243-6583-4749-BEAF-686C71F6110B}" type="pres">
      <dgm:prSet presAssocID="{5C536EDE-A94F-4432-ABCE-8BD63E73F65F}" presName="textRect" presStyleLbl="revTx" presStyleIdx="3" presStyleCnt="6">
        <dgm:presLayoutVars>
          <dgm:bulletEnabled/>
        </dgm:presLayoutVars>
      </dgm:prSet>
      <dgm:spPr/>
    </dgm:pt>
    <dgm:pt modelId="{45590EB6-7182-493B-9049-6DD64E8924F1}" type="pres">
      <dgm:prSet presAssocID="{2654950A-9FFA-465F-87D9-4513A7FFBDBD}" presName="sibTrans" presStyleLbl="sibTrans2D1" presStyleIdx="0" presStyleCnt="0"/>
      <dgm:spPr/>
    </dgm:pt>
    <dgm:pt modelId="{B5BB98B3-5833-4845-9BB9-A188333932BE}" type="pres">
      <dgm:prSet presAssocID="{EB6A07DF-0279-499B-BECF-F2D0213E94DA}" presName="compNode" presStyleCnt="0"/>
      <dgm:spPr/>
    </dgm:pt>
    <dgm:pt modelId="{AE8B785F-FEC3-42B1-A063-568FA454FAD6}" type="pres">
      <dgm:prSet presAssocID="{EB6A07DF-0279-499B-BECF-F2D0213E94DA}" presName="pictRect" presStyleLbl="revTx" presStyleIdx="4" presStyleCnt="6">
        <dgm:presLayoutVars>
          <dgm:chMax val="0"/>
          <dgm:bulletEnabled/>
        </dgm:presLayoutVars>
      </dgm:prSet>
      <dgm:spPr/>
    </dgm:pt>
    <dgm:pt modelId="{60C6BBF1-1C76-4D26-8622-43084A0F9933}" type="pres">
      <dgm:prSet presAssocID="{EB6A07DF-0279-499B-BECF-F2D0213E94DA}" presName="textRect" presStyleLbl="revTx" presStyleIdx="5" presStyleCnt="6">
        <dgm:presLayoutVars>
          <dgm:bulletEnabled/>
        </dgm:presLayoutVars>
      </dgm:prSet>
      <dgm:spPr/>
    </dgm:pt>
  </dgm:ptLst>
  <dgm:cxnLst>
    <dgm:cxn modelId="{B54CAF0F-61D1-4CBE-AE43-6A2E8CEB9D64}" type="presOf" srcId="{14169A41-764F-4476-91E5-8F8FB3432760}" destId="{60C6BBF1-1C76-4D26-8622-43084A0F9933}" srcOrd="0" destOrd="0" presId="urn:microsoft.com/office/officeart/2024/3/layout/hArchList1"/>
    <dgm:cxn modelId="{2F448D19-2A55-436C-A685-0CE6D760E9DF}" srcId="{1AB81B0C-A47A-4B71-A413-3D1F999F69F1}" destId="{537C6518-C48B-45AD-864F-43E633BF7E69}" srcOrd="0" destOrd="0" parTransId="{9BA6754E-2718-486B-9931-C2580C31E226}" sibTransId="{BAA19E7C-BF83-4013-BBB2-71E0D34676F8}"/>
    <dgm:cxn modelId="{DF55D61D-7F12-4AC6-9C13-98C9560E8858}" type="presOf" srcId="{0FE6CC1E-B7CB-4456-8C2F-B33D35AE50FA}" destId="{7AA95243-6583-4749-BEAF-686C71F6110B}" srcOrd="0" destOrd="0" presId="urn:microsoft.com/office/officeart/2024/3/layout/hArchList1"/>
    <dgm:cxn modelId="{FFA07823-3237-415A-A513-D30795300235}" type="presOf" srcId="{1AB81B0C-A47A-4B71-A413-3D1F999F69F1}" destId="{FF9A9340-F3A6-413A-9504-B46C17142B54}" srcOrd="0" destOrd="0" presId="urn:microsoft.com/office/officeart/2024/3/layout/hArchList1"/>
    <dgm:cxn modelId="{052EC539-115C-406C-AC8C-B0BDBA59F2F6}" type="presOf" srcId="{5C536EDE-A94F-4432-ABCE-8BD63E73F65F}" destId="{4BFD21A8-22E6-4848-A59C-1ADADD0E8FAD}" srcOrd="0" destOrd="0" presId="urn:microsoft.com/office/officeart/2024/3/layout/hArchList1"/>
    <dgm:cxn modelId="{2FB7843B-CF2C-4CBC-BBCA-48CBB44ADAD8}" srcId="{75620368-C7EC-4FAB-B884-CCC83C6C368B}" destId="{1AB81B0C-A47A-4B71-A413-3D1F999F69F1}" srcOrd="0" destOrd="0" parTransId="{9F0809B4-886B-4173-AA4A-A1E8BC2DED57}" sibTransId="{84BD3D97-99B4-42BC-9510-FC29E99748FA}"/>
    <dgm:cxn modelId="{AC9CF168-1B36-4906-86D4-DEB806B8AB59}" srcId="{75620368-C7EC-4FAB-B884-CCC83C6C368B}" destId="{5C536EDE-A94F-4432-ABCE-8BD63E73F65F}" srcOrd="1" destOrd="0" parTransId="{D0311F08-67AB-4BF2-85AD-26432BF64338}" sibTransId="{2654950A-9FFA-465F-87D9-4513A7FFBDBD}"/>
    <dgm:cxn modelId="{20BB6173-B628-4DCA-82BB-0E5F60D35927}" srcId="{75620368-C7EC-4FAB-B884-CCC83C6C368B}" destId="{EB6A07DF-0279-499B-BECF-F2D0213E94DA}" srcOrd="2" destOrd="0" parTransId="{0FC24A2F-31D7-4176-9AB9-E0F810440607}" sibTransId="{B5420DF9-1E72-4FAA-AC33-B9B5675604A2}"/>
    <dgm:cxn modelId="{24241C85-35B6-4303-AF1C-176863EA00B6}" srcId="{5C536EDE-A94F-4432-ABCE-8BD63E73F65F}" destId="{0FE6CC1E-B7CB-4456-8C2F-B33D35AE50FA}" srcOrd="0" destOrd="0" parTransId="{CA750CFB-5E5D-40FF-8437-C6E4AE14E818}" sibTransId="{3AD9B17A-F4E2-4932-8244-90160C43124B}"/>
    <dgm:cxn modelId="{A3E60190-9388-4D9F-8968-4F752618F761}" type="presOf" srcId="{84BD3D97-99B4-42BC-9510-FC29E99748FA}" destId="{1E836161-046C-45AA-8FD3-1936EFB406B3}" srcOrd="0" destOrd="0" presId="urn:microsoft.com/office/officeart/2024/3/layout/hArchList1"/>
    <dgm:cxn modelId="{8B99F1A1-99C6-4F81-9E4D-85F41D271EE6}" type="presOf" srcId="{2654950A-9FFA-465F-87D9-4513A7FFBDBD}" destId="{45590EB6-7182-493B-9049-6DD64E8924F1}" srcOrd="0" destOrd="0" presId="urn:microsoft.com/office/officeart/2024/3/layout/hArchList1"/>
    <dgm:cxn modelId="{64BE6DA9-493A-4420-82FB-1F1FE35C6D33}" type="presOf" srcId="{537C6518-C48B-45AD-864F-43E633BF7E69}" destId="{2B010320-F5D0-4290-99B3-ADB63C4817FB}" srcOrd="0" destOrd="0" presId="urn:microsoft.com/office/officeart/2024/3/layout/hArchList1"/>
    <dgm:cxn modelId="{6066C3BF-ACDF-4704-BD4A-292C9EC56178}" type="presOf" srcId="{75620368-C7EC-4FAB-B884-CCC83C6C368B}" destId="{35E79DAD-E96B-4BB6-9FC5-E216AC0FB3BE}" srcOrd="0" destOrd="0" presId="urn:microsoft.com/office/officeart/2024/3/layout/hArchList1"/>
    <dgm:cxn modelId="{48C60DCC-A3B7-48D5-B2D1-5463B677F83B}" type="presOf" srcId="{EB6A07DF-0279-499B-BECF-F2D0213E94DA}" destId="{AE8B785F-FEC3-42B1-A063-568FA454FAD6}" srcOrd="0" destOrd="0" presId="urn:microsoft.com/office/officeart/2024/3/layout/hArchList1"/>
    <dgm:cxn modelId="{6224C3E3-F81D-4C44-93CB-91A2A48AD2E4}" srcId="{EB6A07DF-0279-499B-BECF-F2D0213E94DA}" destId="{14169A41-764F-4476-91E5-8F8FB3432760}" srcOrd="0" destOrd="0" parTransId="{7E539AF5-219D-4ED4-ADEF-9D0412DCD854}" sibTransId="{B163EC66-96D6-4D15-802C-F15AE1E86490}"/>
    <dgm:cxn modelId="{8F61EAD8-C747-479F-983B-0F6B5A523E5D}" type="presParOf" srcId="{35E79DAD-E96B-4BB6-9FC5-E216AC0FB3BE}" destId="{D78E78AA-0454-41F8-9036-8BB280A4E4FD}" srcOrd="0" destOrd="0" presId="urn:microsoft.com/office/officeart/2024/3/layout/hArchList1"/>
    <dgm:cxn modelId="{406B5D38-CD67-4B9F-A752-FBF92248940D}" type="presParOf" srcId="{D78E78AA-0454-41F8-9036-8BB280A4E4FD}" destId="{FF9A9340-F3A6-413A-9504-B46C17142B54}" srcOrd="0" destOrd="0" presId="urn:microsoft.com/office/officeart/2024/3/layout/hArchList1"/>
    <dgm:cxn modelId="{9184DD5D-387A-4524-99E5-A03D31111E30}" type="presParOf" srcId="{D78E78AA-0454-41F8-9036-8BB280A4E4FD}" destId="{2B010320-F5D0-4290-99B3-ADB63C4817FB}" srcOrd="1" destOrd="0" presId="urn:microsoft.com/office/officeart/2024/3/layout/hArchList1"/>
    <dgm:cxn modelId="{C827DA6B-D163-4DF3-AA03-76851BFD2F70}" type="presParOf" srcId="{35E79DAD-E96B-4BB6-9FC5-E216AC0FB3BE}" destId="{1E836161-046C-45AA-8FD3-1936EFB406B3}" srcOrd="1" destOrd="0" presId="urn:microsoft.com/office/officeart/2024/3/layout/hArchList1"/>
    <dgm:cxn modelId="{E7B4B65D-D783-4616-AE8E-BA8BACAC617B}" type="presParOf" srcId="{35E79DAD-E96B-4BB6-9FC5-E216AC0FB3BE}" destId="{4F6C746F-3F3D-426B-B24D-3056D7074F0D}" srcOrd="2" destOrd="0" presId="urn:microsoft.com/office/officeart/2024/3/layout/hArchList1"/>
    <dgm:cxn modelId="{CE71F8C0-A075-497A-802B-0A13FDB45C5A}" type="presParOf" srcId="{4F6C746F-3F3D-426B-B24D-3056D7074F0D}" destId="{4BFD21A8-22E6-4848-A59C-1ADADD0E8FAD}" srcOrd="0" destOrd="0" presId="urn:microsoft.com/office/officeart/2024/3/layout/hArchList1"/>
    <dgm:cxn modelId="{5CD70415-79A6-4EBE-860B-82607205879D}" type="presParOf" srcId="{4F6C746F-3F3D-426B-B24D-3056D7074F0D}" destId="{7AA95243-6583-4749-BEAF-686C71F6110B}" srcOrd="1" destOrd="0" presId="urn:microsoft.com/office/officeart/2024/3/layout/hArchList1"/>
    <dgm:cxn modelId="{9DF98BBA-7D72-4EC1-A1C1-00770F3C31AF}" type="presParOf" srcId="{35E79DAD-E96B-4BB6-9FC5-E216AC0FB3BE}" destId="{45590EB6-7182-493B-9049-6DD64E8924F1}" srcOrd="3" destOrd="0" presId="urn:microsoft.com/office/officeart/2024/3/layout/hArchList1"/>
    <dgm:cxn modelId="{4EEAF7E2-A3D2-4E35-A7D0-0B02EDD519E4}" type="presParOf" srcId="{35E79DAD-E96B-4BB6-9FC5-E216AC0FB3BE}" destId="{B5BB98B3-5833-4845-9BB9-A188333932BE}" srcOrd="4" destOrd="0" presId="urn:microsoft.com/office/officeart/2024/3/layout/hArchList1"/>
    <dgm:cxn modelId="{D3B820BE-6FBA-4B03-BED0-39F8A44A53BA}" type="presParOf" srcId="{B5BB98B3-5833-4845-9BB9-A188333932BE}" destId="{AE8B785F-FEC3-42B1-A063-568FA454FAD6}" srcOrd="0" destOrd="0" presId="urn:microsoft.com/office/officeart/2024/3/layout/hArchList1"/>
    <dgm:cxn modelId="{DC6FAB93-9036-458B-8C4D-D7A3CE35BC8D}" type="presParOf" srcId="{B5BB98B3-5833-4845-9BB9-A188333932BE}" destId="{60C6BBF1-1C76-4D26-8622-43084A0F993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952E9D-8139-4C3A-94A2-D01E48AB29E5}">
      <dsp:nvSpPr>
        <dsp:cNvPr id="0" name=""/>
        <dsp:cNvSpPr/>
      </dsp:nvSpPr>
      <dsp:spPr>
        <a:xfrm>
          <a:off x="0" y="0"/>
          <a:ext cx="1778693" cy="177869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7722" r="25279" b="1"/>
          <a:stretch/>
        </a:blipFill>
        <a:ln>
          <a:noFill/>
        </a:ln>
        <a:effectLst/>
      </dsp:spPr>
      <dsp:style>
        <a:lnRef idx="0">
          <a:scrgbClr r="0" g="0" b="0"/>
        </a:lnRef>
        <a:fillRef idx="3">
          <a:scrgbClr r="0" g="0" b="0"/>
        </a:fillRef>
        <a:effectRef idx="2">
          <a:scrgbClr r="0" g="0" b="0"/>
        </a:effectRef>
        <a:fontRef idx="minor">
          <a:schemeClr val="lt1"/>
        </a:fontRef>
      </dsp:style>
    </dsp:sp>
    <dsp:sp modelId="{1482B818-2134-4521-BBA4-A5495E8C45C0}">
      <dsp:nvSpPr>
        <dsp:cNvPr id="0" name=""/>
        <dsp:cNvSpPr/>
      </dsp:nvSpPr>
      <dsp:spPr>
        <a:xfrm>
          <a:off x="1958693" y="0"/>
          <a:ext cx="9965515" cy="41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Market Trend Analysis</a:t>
          </a:r>
        </a:p>
      </dsp:txBody>
      <dsp:txXfrm>
        <a:off x="1958693" y="0"/>
        <a:ext cx="9965515" cy="415890"/>
      </dsp:txXfrm>
    </dsp:sp>
    <dsp:sp modelId="{8EC5C4C6-B92A-4266-AE6F-D3B5FAC87281}">
      <dsp:nvSpPr>
        <dsp:cNvPr id="0" name=""/>
        <dsp:cNvSpPr/>
      </dsp:nvSpPr>
      <dsp:spPr>
        <a:xfrm>
          <a:off x="1958693" y="415890"/>
          <a:ext cx="9965515" cy="1362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Continuously analyze market trends to understand changing consumer behaviors and preferences effectively.</a:t>
          </a:r>
        </a:p>
      </dsp:txBody>
      <dsp:txXfrm>
        <a:off x="1958693" y="415890"/>
        <a:ext cx="9965515" cy="1362803"/>
      </dsp:txXfrm>
    </dsp:sp>
    <dsp:sp modelId="{C3DC6AF6-6E26-460F-89CB-C3AF7C627B3E}">
      <dsp:nvSpPr>
        <dsp:cNvPr id="0" name=""/>
        <dsp:cNvSpPr/>
      </dsp:nvSpPr>
      <dsp:spPr>
        <a:xfrm>
          <a:off x="0" y="1920989"/>
          <a:ext cx="1778693" cy="177869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844" r="24156"/>
          <a:stretch/>
        </a:blipFill>
        <a:ln>
          <a:noFill/>
        </a:ln>
        <a:effectLst/>
      </dsp:spPr>
      <dsp:style>
        <a:lnRef idx="0">
          <a:scrgbClr r="0" g="0" b="0"/>
        </a:lnRef>
        <a:fillRef idx="3">
          <a:scrgbClr r="0" g="0" b="0"/>
        </a:fillRef>
        <a:effectRef idx="2">
          <a:scrgbClr r="0" g="0" b="0"/>
        </a:effectRef>
        <a:fontRef idx="minor">
          <a:schemeClr val="lt1"/>
        </a:fontRef>
      </dsp:style>
    </dsp:sp>
    <dsp:sp modelId="{09C6178B-BF05-43A9-8B22-476DEFAEFCA3}">
      <dsp:nvSpPr>
        <dsp:cNvPr id="0" name=""/>
        <dsp:cNvSpPr/>
      </dsp:nvSpPr>
      <dsp:spPr>
        <a:xfrm>
          <a:off x="1958693" y="1920989"/>
          <a:ext cx="9965515" cy="41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Gathering Customer Feedback</a:t>
          </a:r>
        </a:p>
      </dsp:txBody>
      <dsp:txXfrm>
        <a:off x="1958693" y="1920989"/>
        <a:ext cx="9965515" cy="415890"/>
      </dsp:txXfrm>
    </dsp:sp>
    <dsp:sp modelId="{49953392-C821-4527-8BC8-AEB09679E7A5}">
      <dsp:nvSpPr>
        <dsp:cNvPr id="0" name=""/>
        <dsp:cNvSpPr/>
      </dsp:nvSpPr>
      <dsp:spPr>
        <a:xfrm>
          <a:off x="1958693" y="2336879"/>
          <a:ext cx="9965515" cy="1362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Collect customer feedback regularly to gain insights into product performance and areas for improvement.</a:t>
          </a:r>
        </a:p>
      </dsp:txBody>
      <dsp:txXfrm>
        <a:off x="1958693" y="2336879"/>
        <a:ext cx="9965515" cy="1362803"/>
      </dsp:txXfrm>
    </dsp:sp>
    <dsp:sp modelId="{1B0B1527-AE17-49F5-8EF8-228F269AD9D1}">
      <dsp:nvSpPr>
        <dsp:cNvPr id="0" name=""/>
        <dsp:cNvSpPr/>
      </dsp:nvSpPr>
      <dsp:spPr>
        <a:xfrm>
          <a:off x="0" y="3841978"/>
          <a:ext cx="1778693" cy="177869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8882" r="4370" b="3"/>
          <a:stretch/>
        </a:blipFill>
        <a:ln>
          <a:noFill/>
        </a:ln>
        <a:effectLst/>
      </dsp:spPr>
      <dsp:style>
        <a:lnRef idx="0">
          <a:scrgbClr r="0" g="0" b="0"/>
        </a:lnRef>
        <a:fillRef idx="3">
          <a:scrgbClr r="0" g="0" b="0"/>
        </a:fillRef>
        <a:effectRef idx="2">
          <a:scrgbClr r="0" g="0" b="0"/>
        </a:effectRef>
        <a:fontRef idx="minor">
          <a:schemeClr val="lt1"/>
        </a:fontRef>
      </dsp:style>
    </dsp:sp>
    <dsp:sp modelId="{10E18B4D-4C06-4E7A-8BAA-DC2D17E9891A}">
      <dsp:nvSpPr>
        <dsp:cNvPr id="0" name=""/>
        <dsp:cNvSpPr/>
      </dsp:nvSpPr>
      <dsp:spPr>
        <a:xfrm>
          <a:off x="1958693" y="3841978"/>
          <a:ext cx="9965515" cy="41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Refining Strategies</a:t>
          </a:r>
        </a:p>
      </dsp:txBody>
      <dsp:txXfrm>
        <a:off x="1958693" y="3841978"/>
        <a:ext cx="9965515" cy="415890"/>
      </dsp:txXfrm>
    </dsp:sp>
    <dsp:sp modelId="{82646609-A1C6-4628-9CE6-20FA5FF07E66}">
      <dsp:nvSpPr>
        <dsp:cNvPr id="0" name=""/>
        <dsp:cNvSpPr/>
      </dsp:nvSpPr>
      <dsp:spPr>
        <a:xfrm>
          <a:off x="1958693" y="4257868"/>
          <a:ext cx="9965515" cy="1362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Use the data collected to refine marketing strategies and enhance product offerings to meet consumer needs effectively.</a:t>
          </a:r>
        </a:p>
      </dsp:txBody>
      <dsp:txXfrm>
        <a:off x="1958693" y="4257868"/>
        <a:ext cx="9965515" cy="1362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203216-8628-4B05-9C29-842742457BAF}">
      <dsp:nvSpPr>
        <dsp:cNvPr id="0" name=""/>
        <dsp:cNvSpPr/>
      </dsp:nvSpPr>
      <dsp:spPr>
        <a:xfrm>
          <a:off x="0" y="0"/>
          <a:ext cx="1778693" cy="177869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52" b="3"/>
          <a:stretch/>
        </a:blipFill>
        <a:ln>
          <a:noFill/>
        </a:ln>
        <a:effectLst/>
      </dsp:spPr>
      <dsp:style>
        <a:lnRef idx="0">
          <a:scrgbClr r="0" g="0" b="0"/>
        </a:lnRef>
        <a:fillRef idx="3">
          <a:scrgbClr r="0" g="0" b="0"/>
        </a:fillRef>
        <a:effectRef idx="2">
          <a:scrgbClr r="0" g="0" b="0"/>
        </a:effectRef>
        <a:fontRef idx="minor">
          <a:schemeClr val="lt1"/>
        </a:fontRef>
      </dsp:style>
    </dsp:sp>
    <dsp:sp modelId="{02F9D977-AFDB-4115-8DE1-1C8FB2F08E73}">
      <dsp:nvSpPr>
        <dsp:cNvPr id="0" name=""/>
        <dsp:cNvSpPr/>
      </dsp:nvSpPr>
      <dsp:spPr>
        <a:xfrm>
          <a:off x="1958693" y="0"/>
          <a:ext cx="9965515" cy="41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Email Campaigns</a:t>
          </a:r>
        </a:p>
      </dsp:txBody>
      <dsp:txXfrm>
        <a:off x="1958693" y="0"/>
        <a:ext cx="9965515" cy="415890"/>
      </dsp:txXfrm>
    </dsp:sp>
    <dsp:sp modelId="{ACDF1E94-1C1E-47A3-936E-E7067C3209C7}">
      <dsp:nvSpPr>
        <dsp:cNvPr id="0" name=""/>
        <dsp:cNvSpPr/>
      </dsp:nvSpPr>
      <dsp:spPr>
        <a:xfrm>
          <a:off x="1958693" y="415890"/>
          <a:ext cx="9965515" cy="1362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Email campaigns are a direct way to engage customers post-launch, allowing for personalized communication and updates.</a:t>
          </a:r>
        </a:p>
      </dsp:txBody>
      <dsp:txXfrm>
        <a:off x="1958693" y="415890"/>
        <a:ext cx="9965515" cy="1362803"/>
      </dsp:txXfrm>
    </dsp:sp>
    <dsp:sp modelId="{C8E31A3F-DC5E-4D6F-82C3-4B93F0F461BE}">
      <dsp:nvSpPr>
        <dsp:cNvPr id="0" name=""/>
        <dsp:cNvSpPr/>
      </dsp:nvSpPr>
      <dsp:spPr>
        <a:xfrm>
          <a:off x="0" y="1920989"/>
          <a:ext cx="1778693" cy="177869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0037" r="9957" b="-7"/>
          <a:stretch/>
        </a:blipFill>
        <a:ln>
          <a:noFill/>
        </a:ln>
        <a:effectLst/>
      </dsp:spPr>
      <dsp:style>
        <a:lnRef idx="0">
          <a:scrgbClr r="0" g="0" b="0"/>
        </a:lnRef>
        <a:fillRef idx="3">
          <a:scrgbClr r="0" g="0" b="0"/>
        </a:fillRef>
        <a:effectRef idx="2">
          <a:scrgbClr r="0" g="0" b="0"/>
        </a:effectRef>
        <a:fontRef idx="minor">
          <a:schemeClr val="lt1"/>
        </a:fontRef>
      </dsp:style>
    </dsp:sp>
    <dsp:sp modelId="{A97EAA0E-A45F-4388-828D-2AF3941ECF51}">
      <dsp:nvSpPr>
        <dsp:cNvPr id="0" name=""/>
        <dsp:cNvSpPr/>
      </dsp:nvSpPr>
      <dsp:spPr>
        <a:xfrm>
          <a:off x="1958693" y="1920989"/>
          <a:ext cx="9965515" cy="41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Targeted Ads</a:t>
          </a:r>
        </a:p>
      </dsp:txBody>
      <dsp:txXfrm>
        <a:off x="1958693" y="1920989"/>
        <a:ext cx="9965515" cy="415890"/>
      </dsp:txXfrm>
    </dsp:sp>
    <dsp:sp modelId="{98C6A0A7-37C1-4112-BFF3-093B63E9884F}">
      <dsp:nvSpPr>
        <dsp:cNvPr id="0" name=""/>
        <dsp:cNvSpPr/>
      </dsp:nvSpPr>
      <dsp:spPr>
        <a:xfrm>
          <a:off x="1958693" y="2336879"/>
          <a:ext cx="9965515" cy="1362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Targeted ads help reach specific audiences based on their interests and behaviors, maximizing marketing effectiveness.</a:t>
          </a:r>
        </a:p>
      </dsp:txBody>
      <dsp:txXfrm>
        <a:off x="1958693" y="2336879"/>
        <a:ext cx="9965515" cy="1362803"/>
      </dsp:txXfrm>
    </dsp:sp>
    <dsp:sp modelId="{6B5BCCA5-4B40-423C-BC9F-6157013A16FF}">
      <dsp:nvSpPr>
        <dsp:cNvPr id="0" name=""/>
        <dsp:cNvSpPr/>
      </dsp:nvSpPr>
      <dsp:spPr>
        <a:xfrm>
          <a:off x="0" y="3841978"/>
          <a:ext cx="1778693" cy="177869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33995" b="-7"/>
          <a:stretch/>
        </a:blipFill>
        <a:ln>
          <a:noFill/>
        </a:ln>
        <a:effectLst/>
      </dsp:spPr>
      <dsp:style>
        <a:lnRef idx="0">
          <a:scrgbClr r="0" g="0" b="0"/>
        </a:lnRef>
        <a:fillRef idx="3">
          <a:scrgbClr r="0" g="0" b="0"/>
        </a:fillRef>
        <a:effectRef idx="2">
          <a:scrgbClr r="0" g="0" b="0"/>
        </a:effectRef>
        <a:fontRef idx="minor">
          <a:schemeClr val="lt1"/>
        </a:fontRef>
      </dsp:style>
    </dsp:sp>
    <dsp:sp modelId="{A164FF82-90C7-409D-B48A-11DFC9E51120}">
      <dsp:nvSpPr>
        <dsp:cNvPr id="0" name=""/>
        <dsp:cNvSpPr/>
      </dsp:nvSpPr>
      <dsp:spPr>
        <a:xfrm>
          <a:off x="1958693" y="3841978"/>
          <a:ext cx="9965515" cy="41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Social Media Promotions</a:t>
          </a:r>
        </a:p>
      </dsp:txBody>
      <dsp:txXfrm>
        <a:off x="1958693" y="3841978"/>
        <a:ext cx="9965515" cy="415890"/>
      </dsp:txXfrm>
    </dsp:sp>
    <dsp:sp modelId="{1AA3B808-D888-478E-8EAB-76AA24D60BEA}">
      <dsp:nvSpPr>
        <dsp:cNvPr id="0" name=""/>
        <dsp:cNvSpPr/>
      </dsp:nvSpPr>
      <dsp:spPr>
        <a:xfrm>
          <a:off x="1958693" y="4257868"/>
          <a:ext cx="9965515" cy="1362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Social media promotions can boost brand visibility and customer engagement through interactive content and community building.</a:t>
          </a:r>
        </a:p>
      </dsp:txBody>
      <dsp:txXfrm>
        <a:off x="1958693" y="4257868"/>
        <a:ext cx="9965515" cy="1362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9A9340-F3A6-413A-9504-B46C17142B54}">
      <dsp:nvSpPr>
        <dsp:cNvPr id="0" name=""/>
        <dsp:cNvSpPr/>
      </dsp:nvSpPr>
      <dsp:spPr>
        <a:xfrm>
          <a:off x="0" y="0"/>
          <a:ext cx="3403282" cy="611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Strategic Market Understanding</a:t>
          </a:r>
        </a:p>
      </dsp:txBody>
      <dsp:txXfrm>
        <a:off x="0" y="0"/>
        <a:ext cx="3403282" cy="611755"/>
      </dsp:txXfrm>
    </dsp:sp>
    <dsp:sp modelId="{2B010320-F5D0-4290-99B3-ADB63C4817FB}">
      <dsp:nvSpPr>
        <dsp:cNvPr id="0" name=""/>
        <dsp:cNvSpPr/>
      </dsp:nvSpPr>
      <dsp:spPr>
        <a:xfrm>
          <a:off x="0" y="611755"/>
          <a:ext cx="3403282" cy="213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Understanding the market is crucial for launching a new sports drink. It helps in identifying customer needs and preferences.</a:t>
          </a:r>
        </a:p>
      </dsp:txBody>
      <dsp:txXfrm>
        <a:off x="0" y="611755"/>
        <a:ext cx="3403282" cy="2131444"/>
      </dsp:txXfrm>
    </dsp:sp>
    <dsp:sp modelId="{4BFD21A8-22E6-4848-A59C-1ADADD0E8FAD}">
      <dsp:nvSpPr>
        <dsp:cNvPr id="0" name=""/>
        <dsp:cNvSpPr/>
      </dsp:nvSpPr>
      <dsp:spPr>
        <a:xfrm>
          <a:off x="3743610" y="0"/>
          <a:ext cx="3403282" cy="611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Effective Marketing Strategies</a:t>
          </a:r>
        </a:p>
      </dsp:txBody>
      <dsp:txXfrm>
        <a:off x="3743610" y="0"/>
        <a:ext cx="3403282" cy="611755"/>
      </dsp:txXfrm>
    </dsp:sp>
    <dsp:sp modelId="{7AA95243-6583-4749-BEAF-686C71F6110B}">
      <dsp:nvSpPr>
        <dsp:cNvPr id="0" name=""/>
        <dsp:cNvSpPr/>
      </dsp:nvSpPr>
      <dsp:spPr>
        <a:xfrm>
          <a:off x="3743610" y="611755"/>
          <a:ext cx="3403282" cy="213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Implementing effective marketing strategies is essential for a successful product launch. This includes promotions, branding, and advertising.</a:t>
          </a:r>
        </a:p>
      </dsp:txBody>
      <dsp:txXfrm>
        <a:off x="3743610" y="611755"/>
        <a:ext cx="3403282" cy="2131444"/>
      </dsp:txXfrm>
    </dsp:sp>
    <dsp:sp modelId="{AE8B785F-FEC3-42B1-A063-568FA454FAD6}">
      <dsp:nvSpPr>
        <dsp:cNvPr id="0" name=""/>
        <dsp:cNvSpPr/>
      </dsp:nvSpPr>
      <dsp:spPr>
        <a:xfrm>
          <a:off x="7487221" y="0"/>
          <a:ext cx="3403282" cy="611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Post-Launch Engagement</a:t>
          </a:r>
        </a:p>
      </dsp:txBody>
      <dsp:txXfrm>
        <a:off x="7487221" y="0"/>
        <a:ext cx="3403282" cy="611755"/>
      </dsp:txXfrm>
    </dsp:sp>
    <dsp:sp modelId="{60C6BBF1-1C76-4D26-8622-43084A0F9933}">
      <dsp:nvSpPr>
        <dsp:cNvPr id="0" name=""/>
        <dsp:cNvSpPr/>
      </dsp:nvSpPr>
      <dsp:spPr>
        <a:xfrm>
          <a:off x="7487221" y="611755"/>
          <a:ext cx="3403282" cy="213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Post-launch engagement with customers is vital for building lasting relationships. It ensures customer loyalty and ongoing feedback.</a:t>
          </a:r>
        </a:p>
      </dsp:txBody>
      <dsp:txXfrm>
        <a:off x="7487221" y="611755"/>
        <a:ext cx="3403282" cy="2131444"/>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C2201C-3B05-4BDC-8BB2-397CD0B819F0}" type="datetimeFigureOut">
              <a:rPr lang="en-US" smtClean="0"/>
              <a:t>6/17/2025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B1D19F-3D0A-4711-8548-5B443F9A8338}" type="slidenum">
              <a:rPr lang="en-US" smtClean="0"/>
              <a:t>‹#›</a:t>
            </a:fld>
            <a:endParaRPr lang="en-US"/>
          </a:p>
        </p:txBody>
      </p:sp>
    </p:spTree>
    <p:extLst>
      <p:ext uri="{BB962C8B-B14F-4D97-AF65-F5344CB8AC3E}">
        <p14:creationId xmlns:p14="http://schemas.microsoft.com/office/powerpoint/2010/main" val="314492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Launching a new sports drink requires a well-planned marketing strategy to ensure its success. This presentation will cover essential strategies tailored for the sports beverage market, from initial analysis to post-launch tactics.
</a:t>
            </a:r>
          </a:p>
        </p:txBody>
      </p:sp>
      <p:sp>
        <p:nvSpPr>
          <p:cNvPr id="4" name="Slide Number Placeholder 3"/>
          <p:cNvSpPr>
            <a:spLocks noGrp="1"/>
          </p:cNvSpPr>
          <p:nvPr>
            <p:ph type="sldNum" sz="quarter" idx="5"/>
          </p:nvPr>
        </p:nvSpPr>
        <p:spPr/>
        <p:txBody>
          <a:bodyPr/>
          <a:lstStyle/>
          <a:p>
            <a:fld id="{4F945130-F50A-4A4E-96C2-B5BE07CDBA03}" type="slidenum">
              <a:rPr lang="en-US" smtClean="0"/>
              <a:t>1</a:t>
            </a:fld>
            <a:endParaRPr lang="en-US"/>
          </a:p>
        </p:txBody>
      </p:sp>
    </p:spTree>
    <p:extLst>
      <p:ext uri="{BB962C8B-B14F-4D97-AF65-F5344CB8AC3E}">
        <p14:creationId xmlns:p14="http://schemas.microsoft.com/office/powerpoint/2010/main" val="202029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begin with effective marketing strategies for launching a new sports drink, including market analysis and identifying the target audience. Following that, we'll explore post-launch marketing strategies to maintain momentum and customer engagement.</a:t>
            </a:r>
          </a:p>
        </p:txBody>
      </p:sp>
      <p:sp>
        <p:nvSpPr>
          <p:cNvPr id="4" name="Slide Number Placeholder 3"/>
          <p:cNvSpPr>
            <a:spLocks noGrp="1"/>
          </p:cNvSpPr>
          <p:nvPr>
            <p:ph type="sldNum" sz="quarter" idx="5"/>
          </p:nvPr>
        </p:nvSpPr>
        <p:spPr/>
        <p:txBody>
          <a:bodyPr/>
          <a:lstStyle/>
          <a:p>
            <a:fld id="{4F945130-F50A-4A4E-96C2-B5BE07CDBA03}" type="slidenum">
              <a:rPr lang="en-US" smtClean="0"/>
              <a:t>2</a:t>
            </a:fld>
            <a:endParaRPr lang="en-US"/>
          </a:p>
        </p:txBody>
      </p:sp>
    </p:spTree>
    <p:extLst>
      <p:ext uri="{BB962C8B-B14F-4D97-AF65-F5344CB8AC3E}">
        <p14:creationId xmlns:p14="http://schemas.microsoft.com/office/powerpoint/2010/main" val="3615748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a successful marketing strategy involves understanding the market dynamics and identifying your target customers. This section will guide you through the necessary steps to ensure a strategic launch.</a:t>
            </a:r>
          </a:p>
        </p:txBody>
      </p:sp>
      <p:sp>
        <p:nvSpPr>
          <p:cNvPr id="4" name="Slide Number Placeholder 3"/>
          <p:cNvSpPr>
            <a:spLocks noGrp="1"/>
          </p:cNvSpPr>
          <p:nvPr>
            <p:ph type="sldNum" sz="quarter" idx="5"/>
          </p:nvPr>
        </p:nvSpPr>
        <p:spPr/>
        <p:txBody>
          <a:bodyPr/>
          <a:lstStyle/>
          <a:p>
            <a:fld id="{4F945130-F50A-4A4E-96C2-B5BE07CDBA03}" type="slidenum">
              <a:rPr lang="en-US" smtClean="0"/>
              <a:t>3</a:t>
            </a:fld>
            <a:endParaRPr lang="en-US"/>
          </a:p>
        </p:txBody>
      </p:sp>
    </p:spTree>
    <p:extLst>
      <p:ext uri="{BB962C8B-B14F-4D97-AF65-F5344CB8AC3E}">
        <p14:creationId xmlns:p14="http://schemas.microsoft.com/office/powerpoint/2010/main" val="2287880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Conducting thorough market analysis is crucial to identify the target audience for the new sports drink. This involves understanding consumer preferences, trends in sports nutrition, and potential competitors in the market.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4</a:t>
            </a:fld>
            <a:endParaRPr lang="en-US"/>
          </a:p>
        </p:txBody>
      </p:sp>
    </p:spTree>
    <p:extLst>
      <p:ext uri="{BB962C8B-B14F-4D97-AF65-F5344CB8AC3E}">
        <p14:creationId xmlns:p14="http://schemas.microsoft.com/office/powerpoint/2010/main" val="1674005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Defining how your sports drink is different from competitors is key. Establish a unique selling proposition that highlights the specific benefits, such as ingredients, flavors, or hydration efficiency, that will attract your target audience.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5</a:t>
            </a:fld>
            <a:endParaRPr lang="en-US"/>
          </a:p>
        </p:txBody>
      </p:sp>
    </p:spTree>
    <p:extLst>
      <p:ext uri="{BB962C8B-B14F-4D97-AF65-F5344CB8AC3E}">
        <p14:creationId xmlns:p14="http://schemas.microsoft.com/office/powerpoint/2010/main" val="3606669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Selecting the right marketing channels is essential for reaching your audience effectively. Consider using social media, influencer partnerships, and sports events to maximize visibility and engagement for your sports drink.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6</a:t>
            </a:fld>
            <a:endParaRPr lang="en-US"/>
          </a:p>
        </p:txBody>
      </p:sp>
    </p:spTree>
    <p:extLst>
      <p:ext uri="{BB962C8B-B14F-4D97-AF65-F5344CB8AC3E}">
        <p14:creationId xmlns:p14="http://schemas.microsoft.com/office/powerpoint/2010/main" val="139709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 well-structured timeline helps track progress and ensure all critical actions are executed on schedule. Outline key milestones, from product development to marketing campaigns, that will lead up to the launch.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7</a:t>
            </a:fld>
            <a:endParaRPr lang="en-US"/>
          </a:p>
        </p:txBody>
      </p:sp>
    </p:spTree>
    <p:extLst>
      <p:ext uri="{BB962C8B-B14F-4D97-AF65-F5344CB8AC3E}">
        <p14:creationId xmlns:p14="http://schemas.microsoft.com/office/powerpoint/2010/main" val="238273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Establishing performance metrics is vital to measure the effectiveness of the launch strategy. Focus on key indicators such as sales figures, customer feedback, and brand awareness to evaluate success.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8</a:t>
            </a:fld>
            <a:endParaRPr lang="en-US"/>
          </a:p>
        </p:txBody>
      </p:sp>
    </p:spTree>
    <p:extLst>
      <p:ext uri="{BB962C8B-B14F-4D97-AF65-F5344CB8AC3E}">
        <p14:creationId xmlns:p14="http://schemas.microsoft.com/office/powerpoint/2010/main" val="2813939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the initial launch, it is essential to maintain momentum with effective post-launch marketing strategies that enhance customer engagement and brand loyalty.</a:t>
            </a:r>
          </a:p>
        </p:txBody>
      </p:sp>
      <p:sp>
        <p:nvSpPr>
          <p:cNvPr id="4" name="Slide Number Placeholder 3"/>
          <p:cNvSpPr>
            <a:spLocks noGrp="1"/>
          </p:cNvSpPr>
          <p:nvPr>
            <p:ph type="sldNum" sz="quarter" idx="5"/>
          </p:nvPr>
        </p:nvSpPr>
        <p:spPr/>
        <p:txBody>
          <a:bodyPr/>
          <a:lstStyle/>
          <a:p>
            <a:fld id="{4F945130-F50A-4A4E-96C2-B5BE07CDBA03}" type="slidenum">
              <a:rPr lang="en-US" smtClean="0"/>
              <a:t>9</a:t>
            </a:fld>
            <a:endParaRPr lang="en-US"/>
          </a:p>
        </p:txBody>
      </p:sp>
    </p:spTree>
    <p:extLst>
      <p:ext uri="{BB962C8B-B14F-4D97-AF65-F5344CB8AC3E}">
        <p14:creationId xmlns:p14="http://schemas.microsoft.com/office/powerpoint/2010/main" val="483611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Post-launch, continue to analyze market trends and gather customer feedback. This ongoing analysis helps refine marketing strategies and product offerings to better meet consumer needs.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10</a:t>
            </a:fld>
            <a:endParaRPr lang="en-US"/>
          </a:p>
        </p:txBody>
      </p:sp>
    </p:spTree>
    <p:extLst>
      <p:ext uri="{BB962C8B-B14F-4D97-AF65-F5344CB8AC3E}">
        <p14:creationId xmlns:p14="http://schemas.microsoft.com/office/powerpoint/2010/main" val="4038800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Customer feedback is essential for our sports drink launch. First, conduct surveys and focus groups to understand customer preferences and expectations. Second, use social media and online reviews to gather real-time feedback from a broader audience. Lastly, analyze the data to identify trends and areas for improvement, ensuring our product meets market demands.</a:t>
            </a:r>
          </a:p>
        </p:txBody>
      </p:sp>
      <p:sp>
        <p:nvSpPr>
          <p:cNvPr id="4" name="Slide Number Placeholder 3"/>
          <p:cNvSpPr>
            <a:spLocks noGrp="1"/>
          </p:cNvSpPr>
          <p:nvPr>
            <p:ph type="sldNum" sz="quarter" idx="5"/>
          </p:nvPr>
        </p:nvSpPr>
        <p:spPr/>
        <p:txBody>
          <a:bodyPr/>
          <a:lstStyle/>
          <a:p>
            <a:fld id="{DCB1D19F-3D0A-4711-8548-5B443F9A8338}" type="slidenum">
              <a:rPr lang="en-US" smtClean="0"/>
              <a:t>11</a:t>
            </a:fld>
            <a:endParaRPr lang="en-US"/>
          </a:p>
        </p:txBody>
      </p:sp>
    </p:spTree>
    <p:extLst>
      <p:ext uri="{BB962C8B-B14F-4D97-AF65-F5344CB8AC3E}">
        <p14:creationId xmlns:p14="http://schemas.microsoft.com/office/powerpoint/2010/main" val="1187253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Implementing customer retention strategies, such as loyalty programs or subscription models, will foster brand loyalty and encourage repeat purchases. Engaging with customers continuously strengthens brand connection.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12</a:t>
            </a:fld>
            <a:endParaRPr lang="en-US"/>
          </a:p>
        </p:txBody>
      </p:sp>
    </p:spTree>
    <p:extLst>
      <p:ext uri="{BB962C8B-B14F-4D97-AF65-F5344CB8AC3E}">
        <p14:creationId xmlns:p14="http://schemas.microsoft.com/office/powerpoint/2010/main" val="3712623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Utilizing digital marketing tactics, such as email campaigns, targeted ads, and social media promotions, can effectively reach customers and maintain engagement after the launch. Focus on creating compelling content that resonates with your audience.
Image source: Microsoft 365 content library
</a:t>
            </a:r>
          </a:p>
        </p:txBody>
      </p:sp>
      <p:sp>
        <p:nvSpPr>
          <p:cNvPr id="4" name="Slide Number Placeholder 3"/>
          <p:cNvSpPr>
            <a:spLocks noGrp="1"/>
          </p:cNvSpPr>
          <p:nvPr>
            <p:ph type="sldNum" sz="quarter" idx="5"/>
          </p:nvPr>
        </p:nvSpPr>
        <p:spPr/>
        <p:txBody>
          <a:bodyPr/>
          <a:lstStyle/>
          <a:p>
            <a:fld id="{4F945130-F50A-4A4E-96C2-B5BE07CDBA03}" type="slidenum">
              <a:rPr lang="en-US" smtClean="0"/>
              <a:t>13</a:t>
            </a:fld>
            <a:endParaRPr lang="en-US"/>
          </a:p>
        </p:txBody>
      </p:sp>
    </p:spTree>
    <p:extLst>
      <p:ext uri="{BB962C8B-B14F-4D97-AF65-F5344CB8AC3E}">
        <p14:creationId xmlns:p14="http://schemas.microsoft.com/office/powerpoint/2010/main" val="3238945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Launching a new sports drink involves a strategic approach, from understanding the market to post-launch engagement. By implementing these marketing strategies, you can ensure a successful product launch and foster lasting customer relationships.</a:t>
            </a:r>
          </a:p>
        </p:txBody>
      </p:sp>
      <p:sp>
        <p:nvSpPr>
          <p:cNvPr id="4" name="Slide Number Placeholder 3"/>
          <p:cNvSpPr>
            <a:spLocks noGrp="1"/>
          </p:cNvSpPr>
          <p:nvPr>
            <p:ph type="sldNum" sz="quarter" idx="5"/>
          </p:nvPr>
        </p:nvSpPr>
        <p:spPr/>
        <p:txBody>
          <a:bodyPr/>
          <a:lstStyle/>
          <a:p>
            <a:fld id="{4F945130-F50A-4A4E-96C2-B5BE07CDBA03}" type="slidenum">
              <a:rPr lang="en-US" smtClean="0"/>
              <a:t>14</a:t>
            </a:fld>
            <a:endParaRPr lang="en-US"/>
          </a:p>
        </p:txBody>
      </p:sp>
    </p:spTree>
    <p:extLst>
      <p:ext uri="{BB962C8B-B14F-4D97-AF65-F5344CB8AC3E}">
        <p14:creationId xmlns:p14="http://schemas.microsoft.com/office/powerpoint/2010/main" val="2227048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5338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80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91107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anchor="b">
            <a:normAutofit/>
          </a:bodyPr>
          <a:lstStyle>
            <a:lvl1pPr algn="l">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90A7993E-BF8D-483D-835F-218BE3FC2648}"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605896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anchor="b">
            <a:normAutofit/>
          </a:bodyPr>
          <a:lstStyle>
            <a:lvl1pPr algn="l">
              <a:defRPr sz="36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0"/>
            <a:ext cx="12191999" cy="4944351"/>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0A5881F7-61E7-464A-B25B-D06EF371E7BB}" type="datetime1">
              <a:rPr lang="en-US" smtClean="0"/>
              <a:t>6/17/2025</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9156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userDrawn="1"/>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anchor="t">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5766" y="0"/>
            <a:ext cx="6663325"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6EAE0971-16E1-4804-BCF7-2D4AE159BC5F}"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015204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userDrawn="1"/>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anchor="t">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029201" y="0"/>
            <a:ext cx="7162800"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5017E961-8070-4076-BC89-E9A21E8B1DDB}" type="datetime1">
              <a:rPr lang="en-US" smtClean="0"/>
              <a:t>6/17/2025</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725264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6D593C-5636-A3D4-D0B4-7C5D4B4D6957}"/>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lumMod val="20000"/>
                    <a:lumOff val="8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F34549CE-172D-4858-ACF7-34679969C52A}"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705994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userDrawn="1">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34549CE-172D-4858-ACF7-34679969C52A}" type="datetime1">
              <a:rPr lang="en-US" smtClean="0"/>
              <a:pPr/>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35824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userDrawn="1">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6" y="3231931"/>
            <a:ext cx="5200938"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7E5ED5B-F431-4291-9350-DE25B4E24A2B}" type="datetime1">
              <a:rPr lang="en-US" smtClean="0"/>
              <a:t>6/17/2025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95701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p:nvPr>
        </p:nvSpPr>
        <p:spPr>
          <a:xfrm>
            <a:off x="0" y="2892425"/>
            <a:ext cx="5888421" cy="3965575"/>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07E5ED5B-F431-4291-9350-DE25B4E24A2B}" type="datetime1">
              <a:rPr lang="en-US" smtClean="0"/>
              <a:t>6/17/2025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60745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7"/>
            <a:ext cx="11924209" cy="5621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A1E9370-9C4A-4A34-917A-E6D78BC68C7C}"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1596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78562" y="413752"/>
            <a:ext cx="11479378" cy="6030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A0AAD6C-AC8D-431F-8590-AA5F2823E2A7}"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03588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1303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75334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userDrawn="1"/>
        </p:nvSpPr>
        <p:spPr>
          <a:xfrm>
            <a:off x="5158292" y="0"/>
            <a:ext cx="703370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EDC2E61-84D8-4124-A60F-8C1591231F2F}"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94293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userDrawn="1"/>
        </p:nvSpPr>
        <p:spPr>
          <a:xfrm>
            <a:off x="1" y="0"/>
            <a:ext cx="4998404" cy="6858000"/>
          </a:xfrm>
          <a:prstGeom prst="rect">
            <a:avLst/>
          </a:prstGeom>
          <a:ln>
            <a:noFill/>
          </a:ln>
          <a:effectLst>
            <a:outerShdw blurRad="304800" dist="508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D86AB-AC02-447A-B1D9-D29255284012}"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19550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userDrawn="1"/>
        </p:nvSpPr>
        <p:spPr>
          <a:xfrm>
            <a:off x="4998404" y="0"/>
            <a:ext cx="7193595"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56CB269-0EA9-4840-8B00-D6F4D5623A66}"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27653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userDrawn="1"/>
        </p:nvSpPr>
        <p:spPr>
          <a:xfrm>
            <a:off x="0" y="1"/>
            <a:ext cx="4998404" cy="6858000"/>
          </a:xfrm>
          <a:prstGeom prst="rect">
            <a:avLst/>
          </a:prstGeom>
          <a:ln>
            <a:noFill/>
          </a:ln>
          <a:effectLst>
            <a:outerShdw blurRad="292100" dist="254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32CF09-9C6A-488F-912B-7484594F36CA}"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587467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42870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8">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userDrawn="1"/>
        </p:nvSpPr>
        <p:spPr>
          <a:xfrm>
            <a:off x="0" y="0"/>
            <a:ext cx="3973690" cy="6858000"/>
          </a:xfrm>
          <a:prstGeom prst="rect">
            <a:avLst/>
          </a:prstGeom>
          <a:ln>
            <a:noFill/>
          </a:ln>
          <a:effectLst>
            <a:outerShdw blurRad="254000" dist="25400" dir="540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54520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userDrawn="1"/>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1040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CE4FD0D0-EFA3-4773-9A17-8984A9F3894E}" type="datetime1">
              <a:rPr lang="en-US" smtClean="0"/>
              <a:t>6/17/2025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234959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userDrawn="1"/>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userDrawn="1"/>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1EDE0F73-15D4-4675-AC83-2116B6713E0D}" type="datetime1">
              <a:rPr lang="en-US" smtClean="0"/>
              <a:t>6/17/2025</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12800640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userDrawn="1"/>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930"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0A2676FB-3D7D-40C8-BF49-5420830A3578}" type="datetime1">
              <a:rPr lang="en-US" smtClean="0"/>
              <a:t>6/17/2025</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635798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userDrawn="1"/>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4509B7BD-ED9F-4BE8-9CB0-6580F3DA5AD9}" type="datetime1">
              <a:rPr lang="en-US" smtClean="0"/>
              <a:t>6/17/2025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42539546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userDrawn="1"/>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721068"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D1E4CDFE-4149-497F-9AB2-FC1DA668517A}" type="datetime1">
              <a:rPr lang="en-US" smtClean="0"/>
              <a:pPr/>
              <a:t>6/17/2025</a:t>
            </a:fld>
            <a:endParaRPr lang="en-US" dirty="0"/>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207573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userDrawn="1"/>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530A2420-C19C-4EDE-B6F5-403698632D18}"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17109751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userDrawn="1"/>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9E86C564-3F7A-4713-A853-F25E5506815F}"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5629180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userDrawn="1"/>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754272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AAF53DBC-D325-47EB-9AE2-DBA8CFEB104F}" type="datetime1">
              <a:rPr lang="en-US" smtClean="0"/>
              <a:t>6/17/2025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362631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userDrawn="1"/>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userDrawn="1"/>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17CB1A90-8BC5-45FC-8522-57E9740F0D09}"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3519530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userDrawn="1"/>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820774"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B3B5E29B-D4CF-40DB-8415-CDEF746A4884}"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406206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userDrawn="1"/>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12192000" cy="4635132"/>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A0EB0-1A85-4415-B0DD-DB56CB89A1A3}"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012518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userDrawn="1"/>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39A7FB-F6CB-4A83-AB01-DE96AD12BDE0}"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56826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1347108"/>
            <a:ext cx="6831915" cy="5510891"/>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D43F2FFC-4D61-478E-A5DA-B134F1C3F459}"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972378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0" y="0"/>
            <a:ext cx="5565422"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2" y="2175642"/>
            <a:ext cx="4380271" cy="4124756"/>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7EF4E6-0835-4A9E-AB77-03E72BA07261}" type="datetime1">
              <a:rPr lang="en-US" smtClean="0"/>
              <a:t>6/17/2025</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8348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1" y="0"/>
            <a:ext cx="5584207"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2175642"/>
            <a:ext cx="5584206" cy="4682358"/>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A77EF4E6-0835-4A9E-AB77-03E72BA07261}"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145259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userDrawn="1"/>
        </p:nvSpPr>
        <p:spPr>
          <a:xfrm>
            <a:off x="1" y="-1"/>
            <a:ext cx="4612921" cy="6858001"/>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3" y="2295144"/>
            <a:ext cx="3515063" cy="4005253"/>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621BA2-1729-4125-80E1-73B10B108A05}" type="datetime1">
              <a:rPr lang="en-US" smtClean="0"/>
              <a:t>6/17/2025</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27805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0CD10E-DCDC-D077-124D-D9AD1F8B1CF2}"/>
              </a:ext>
              <a:ext uri="{C183D7F6-B498-43B3-948B-1728B52AA6E4}">
                <adec:decorative xmlns:adec="http://schemas.microsoft.com/office/drawing/2017/decorative" val="1"/>
              </a:ext>
            </a:extLst>
          </p:cNvPr>
          <p:cNvSpPr/>
          <p:nvPr userDrawn="1"/>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1075198"/>
            <a:ext cx="7064188" cy="4707604"/>
          </a:xfrm>
        </p:spPr>
        <p:txBody>
          <a:bodyPr anchor="ctr">
            <a:normAutofit/>
          </a:bodyPr>
          <a:lstStyle>
            <a:lvl1pPr algn="ctr">
              <a:defRPr sz="225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12740" y="1487780"/>
            <a:ext cx="3193022" cy="3882441"/>
          </a:xfrm>
        </p:spPr>
        <p:txBody>
          <a:bodyPr anchor="ctr">
            <a:normAutofit/>
          </a:bodyPr>
          <a:lstStyle>
            <a:lvl1pPr marL="0" indent="0" algn="l">
              <a:lnSpc>
                <a:spcPct val="110000"/>
              </a:lnSpc>
              <a:buNone/>
              <a:defRPr sz="2800" cap="none"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D87098E-FA98-43EB-9FC8-AACA19803591}"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962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2">
    <p:bg>
      <p:bgRef idx="1001">
        <a:schemeClr val="bg1"/>
      </p:bgRef>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A375349-64D8-04FF-E6A4-A9F3EA3F3B83}"/>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201266"/>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445296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834E64F7-E11B-F55A-F8C7-2938BC5485B0}"/>
              </a:ext>
              <a:ext uri="{C183D7F6-B498-43B3-948B-1728B52AA6E4}">
                <adec:decorative xmlns:adec="http://schemas.microsoft.com/office/drawing/2017/decorative" val="1"/>
              </a:ext>
            </a:extLst>
          </p:cNvPr>
          <p:cNvSpPr/>
          <p:nvPr userDrawn="1"/>
        </p:nvSpPr>
        <p:spPr>
          <a:xfrm>
            <a:off x="1" y="0"/>
            <a:ext cx="12191999" cy="4939393"/>
          </a:xfrm>
          <a:prstGeom prst="rect">
            <a:avLst/>
          </a:prstGeom>
          <a:solidFill>
            <a:schemeClr val="tx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bg2"/>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321789"/>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439290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userDrawn="1"/>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BEDB6B-97AA-46A7-9A9F-DF3F9C8FC710}" type="datetime1">
              <a:rPr lang="en-US" smtClean="0"/>
              <a:pPr/>
              <a:t>6/17/2025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226502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tatement 3">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B9B519-1D75-197C-822E-7971723CEFF9}"/>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7EB50A41-BBB0-4E99-933A-0D54E921223C}" type="datetime1">
              <a:rPr lang="en-US" smtClean="0"/>
              <a:pPr/>
              <a:t>6/17/2025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4532010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42E0AEC-8368-EAD3-F78A-8DD00AD5F4BD}"/>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334072" y="706212"/>
            <a:ext cx="9473189" cy="3526971"/>
          </a:xfrm>
        </p:spPr>
        <p:txBody>
          <a:bodyPr anchor="ctr">
            <a:normAutofit/>
          </a:bodyPr>
          <a:lstStyle>
            <a:lvl1pPr marL="173736" indent="-173736" algn="l">
              <a:lnSpc>
                <a:spcPct val="100000"/>
              </a:lnSpc>
              <a:defRPr sz="5400" b="0">
                <a:solidFill>
                  <a:schemeClr val="accent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518800" y="5592286"/>
            <a:ext cx="8991270" cy="612820"/>
          </a:xfrm>
        </p:spPr>
        <p:txBody>
          <a:bodyPr anchor="ctr">
            <a:normAutofit/>
          </a:bodyPr>
          <a:lstStyle>
            <a:lvl1pPr marL="0" indent="0" algn="l">
              <a:buNone/>
              <a:defRPr sz="22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91AEBA9-38A4-4A5F-86B3-1B3385D5906B}"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53946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0835389-478C-7F74-F6E0-89AF30735CF5}"/>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94270"/>
            <a:ext cx="9116569" cy="3781168"/>
          </a:xfrm>
        </p:spPr>
        <p:txBody>
          <a:bodyPr anchor="t">
            <a:normAutofit/>
          </a:bodyPr>
          <a:lstStyle>
            <a:lvl1pPr marL="173736" indent="-173736" algn="l">
              <a:lnSpc>
                <a:spcPct val="100000"/>
              </a:lnSpc>
              <a:defRPr sz="4400" b="0">
                <a:solidFill>
                  <a:schemeClr val="tx2"/>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04982" y="5520007"/>
            <a:ext cx="8968785" cy="757379"/>
          </a:xfrm>
        </p:spPr>
        <p:txBody>
          <a:bodyPr anchor="ctr">
            <a:normAutofit/>
          </a:bodyPr>
          <a:lstStyle>
            <a:lvl1pPr marL="0" indent="0" algn="l">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7436DFB-2C6F-4036-AEBC-4AAB690F37DF}"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38816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Quote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272016" cy="3291840"/>
          </a:xfrm>
        </p:spPr>
        <p:txBody>
          <a:bodyPr anchor="ctr">
            <a:normAutofit/>
          </a:bodyPr>
          <a:lstStyle>
            <a:lvl1pPr marL="155448" indent="-155448"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47397" y="5349240"/>
            <a:ext cx="9088027" cy="466344"/>
          </a:xfrm>
        </p:spPr>
        <p:txBody>
          <a:bodyPr anchor="ctr">
            <a:normAutofit/>
          </a:bodyPr>
          <a:lstStyle>
            <a:lvl1pPr marL="0" indent="0" algn="l">
              <a:buNone/>
              <a:defRPr sz="2200" b="1">
                <a:solidFill>
                  <a:schemeClr val="accent1">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B3A76E-6AB8-4A60-98AF-4814163FD320}"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871501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57199" y="1663264"/>
            <a:ext cx="5218931"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663264"/>
            <a:ext cx="5181600"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91D92A-FD65-4630-8EF9-DCFDE3EFD6C4}"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855347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595300"/>
            <a:ext cx="5262890"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457199" y="2271365"/>
            <a:ext cx="5262891"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95300"/>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271365"/>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4373491-7B77-49C6-AD2D-C13ED48C2EBA}" type="datetime1">
              <a:rPr lang="en-US" smtClean="0"/>
              <a:t>6/17/2025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996035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7FDED9-56B8-4F05-AB54-2CC756DCB8EE}" type="datetime1">
              <a:rPr lang="en-US" smtClean="0"/>
              <a:t>6/17/2025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005019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5466C3F-BF2A-44FE-B216-339938B7BC3B}" type="datetime1">
              <a:rPr lang="en-US" smtClean="0"/>
              <a:t>6/17/2025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884347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userDrawn="1"/>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EDF8AE2-251E-4D0E-B879-45475D6F38C8}" type="datetime1">
              <a:rPr lang="en-US" smtClean="0"/>
              <a:t>6/17/2025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980113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userDrawn="1"/>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C8E2833-867D-45B3-9E62-3A71290884E3}" type="datetime1">
              <a:rPr lang="en-US" smtClean="0"/>
              <a:t>6/17/2025</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63207" y="557785"/>
            <a:ext cx="6471008" cy="5742430"/>
          </a:xfr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15134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clus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16F33D-BC3B-B205-F219-8E637AE65197}"/>
              </a:ext>
            </a:extLst>
          </p:cNvPr>
          <p:cNvSpPr/>
          <p:nvPr userDrawn="1"/>
        </p:nvSpPr>
        <p:spPr>
          <a:xfrm>
            <a:off x="0" y="0"/>
            <a:ext cx="1219199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userDrawn="1"/>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499834" cy="1434662"/>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AA654AB-C2AE-417E-9E7B-1A38F8EEF46E}" type="datetime1">
              <a:rPr lang="en-US" smtClean="0"/>
              <a:pPr/>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97376308"/>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userDrawn="1"/>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59424E-2F7C-42CF-80D9-5F65DA459DD0}" type="datetime1">
              <a:rPr lang="en-US" smtClean="0"/>
              <a:t>6/17/2025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1631809"/>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6/17/2025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856230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p:spPr>
        <p:txBody>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6/17/2025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73716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D1E4CDFE-4149-497F-9AB2-FC1DA668517A}" type="datetime1">
              <a:rPr lang="en-US" smtClean="0"/>
              <a:pPr/>
              <a:t>6/17/2025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6807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Lst>
  <p:hf hdr="0"/>
  <p:txStyles>
    <p:title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5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848BB-25B1-7903-F4AC-B70BF9C309A7}"/>
              </a:ext>
            </a:extLst>
          </p:cNvPr>
          <p:cNvSpPr>
            <a:spLocks noGrp="1"/>
          </p:cNvSpPr>
          <p:nvPr>
            <p:ph type="title"/>
          </p:nvPr>
        </p:nvSpPr>
        <p:spPr>
          <a:xfrm>
            <a:off x="8064062" y="457199"/>
            <a:ext cx="3617863" cy="1860331"/>
          </a:xfrm>
        </p:spPr>
        <p:txBody>
          <a:bodyPr anchor="b">
            <a:normAutofit/>
          </a:bodyPr>
          <a:lstStyle/>
          <a:p>
            <a:r>
              <a:rPr lang="en-US"/>
              <a:t>Winning Marketing Strategies for Launching a New Sports Drink</a:t>
            </a:r>
          </a:p>
        </p:txBody>
      </p:sp>
      <p:sp>
        <p:nvSpPr>
          <p:cNvPr id="11" name="Picture Placeholder 2">
            <a:extLst>
              <a:ext uri="{FF2B5EF4-FFF2-40B4-BE49-F238E27FC236}">
                <a16:creationId xmlns:a16="http://schemas.microsoft.com/office/drawing/2014/main" id="{83315E22-44C4-0CA7-F6F3-BCD4217460CD}"/>
              </a:ext>
            </a:extLst>
          </p:cNvPr>
          <p:cNvSpPr>
            <a:spLocks noGrp="1"/>
          </p:cNvSpPr>
          <p:nvPr>
            <p:ph type="pic" sz="quarter" idx="13"/>
          </p:nvPr>
        </p:nvSpPr>
        <p:spPr>
          <a:xfrm>
            <a:off x="-1" y="0"/>
            <a:ext cx="7542725" cy="6858000"/>
          </a:xfrm>
        </p:spPr>
        <p:txBody>
          <a:bodyPr/>
          <a:lstStyle/>
          <a:p>
            <a:endParaRPr lang="en-US"/>
          </a:p>
        </p:txBody>
      </p:sp>
      <p:sp>
        <p:nvSpPr>
          <p:cNvPr id="3" name="Subtitle 2">
            <a:extLst>
              <a:ext uri="{FF2B5EF4-FFF2-40B4-BE49-F238E27FC236}">
                <a16:creationId xmlns:a16="http://schemas.microsoft.com/office/drawing/2014/main" id="{61526344-D2E4-DC4D-3346-30BCCA744D3F}"/>
              </a:ext>
            </a:extLst>
          </p:cNvPr>
          <p:cNvSpPr>
            <a:spLocks noGrp="1"/>
          </p:cNvSpPr>
          <p:nvPr>
            <p:ph sz="quarter" idx="14"/>
          </p:nvPr>
        </p:nvSpPr>
        <p:spPr>
          <a:xfrm>
            <a:off x="8064061" y="2486370"/>
            <a:ext cx="3617863" cy="3857186"/>
          </a:xfrm>
        </p:spPr>
        <p:txBody>
          <a:bodyPr>
            <a:normAutofit/>
          </a:bodyPr>
          <a:lstStyle/>
          <a:p>
            <a:r>
              <a:rPr lang="en-US"/>
              <a:t>Effective tactics for promoting a refreshing beverage</a:t>
            </a:r>
          </a:p>
        </p:txBody>
      </p:sp>
      <p:sp>
        <p:nvSpPr>
          <p:cNvPr id="4" name="Date Placeholder 3">
            <a:extLst>
              <a:ext uri="{FF2B5EF4-FFF2-40B4-BE49-F238E27FC236}">
                <a16:creationId xmlns:a16="http://schemas.microsoft.com/office/drawing/2014/main" id="{D53CB9C3-96AF-607B-6643-94D86E2C99DE}"/>
              </a:ext>
            </a:extLst>
          </p:cNvPr>
          <p:cNvSpPr>
            <a:spLocks noGrp="1"/>
          </p:cNvSpPr>
          <p:nvPr>
            <p:ph type="dt" sz="half" idx="15"/>
          </p:nvPr>
        </p:nvSpPr>
        <p:spPr>
          <a:xfrm>
            <a:off x="8064061" y="6397585"/>
            <a:ext cx="1070974" cy="365125"/>
          </a:xfrm>
        </p:spPr>
        <p:txBody>
          <a:bodyPr anchor="ctr">
            <a:normAutofit/>
          </a:bodyPr>
          <a:lstStyle/>
          <a:p>
            <a:pPr>
              <a:spcAft>
                <a:spcPts val="600"/>
              </a:spcAft>
            </a:pPr>
            <a:fld id="{339F097E-7A3A-4F11-9373-FCEF70D478AE}"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AEE78489-3B1D-E44A-BEF4-A86665F94303}"/>
              </a:ext>
            </a:extLst>
          </p:cNvPr>
          <p:cNvSpPr>
            <a:spLocks noGrp="1"/>
          </p:cNvSpPr>
          <p:nvPr>
            <p:ph type="ftr" sz="quarter" idx="16"/>
          </p:nvPr>
        </p:nvSpPr>
        <p:spPr>
          <a:xfrm>
            <a:off x="9135035" y="6397586"/>
            <a:ext cx="2546891"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0BAB3FB0-670F-9F4C-2B3F-109F226E009A}"/>
              </a:ext>
            </a:extLst>
          </p:cNvPr>
          <p:cNvSpPr>
            <a:spLocks noGrp="1"/>
          </p:cNvSpPr>
          <p:nvPr>
            <p:ph type="sldNum" sz="quarter" idx="17"/>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245440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4909D-280B-35C1-BE23-1B45E35E13C0}"/>
              </a:ext>
            </a:extLst>
          </p:cNvPr>
          <p:cNvSpPr>
            <a:spLocks noGrp="1"/>
          </p:cNvSpPr>
          <p:nvPr>
            <p:ph type="title"/>
          </p:nvPr>
        </p:nvSpPr>
        <p:spPr>
          <a:xfrm>
            <a:off x="457199" y="457200"/>
            <a:ext cx="9506608" cy="2215056"/>
          </a:xfrm>
        </p:spPr>
        <p:txBody>
          <a:bodyPr anchor="b">
            <a:normAutofit/>
          </a:bodyPr>
          <a:lstStyle/>
          <a:p>
            <a:r>
              <a:rPr lang="en-US" sz="7500"/>
              <a:t>Agenda for Discussion</a:t>
            </a:r>
          </a:p>
        </p:txBody>
      </p:sp>
      <p:sp>
        <p:nvSpPr>
          <p:cNvPr id="3" name="Content Placeholder 2">
            <a:extLst>
              <a:ext uri="{FF2B5EF4-FFF2-40B4-BE49-F238E27FC236}">
                <a16:creationId xmlns:a16="http://schemas.microsoft.com/office/drawing/2014/main" id="{6AF0487D-8C2D-7F5D-CE6F-CBBCDCFC8904}"/>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361386" y="3231931"/>
            <a:ext cx="5200938" cy="2791839"/>
          </a:xfrm>
        </p:spPr>
        <p:txBody>
          <a:bodyPr>
            <a:normAutofit/>
          </a:bodyPr>
          <a:lstStyle/>
          <a:p>
            <a:pPr>
              <a:buFont typeface="Arial" panose="020B0604020202020204" pitchFamily="34" charset="0"/>
              <a:buChar char="•"/>
            </a:pPr>
            <a:r>
              <a:t>Marketing Strategy for a Sports Drink Product Launch</a:t>
            </a:r>
          </a:p>
          <a:p>
            <a:pPr>
              <a:buFont typeface="Arial" panose="020B0604020202020204" pitchFamily="34" charset="0"/>
              <a:buChar char="•"/>
            </a:pPr>
            <a:r>
              <a:t>Post-Launch Marketing Strategies for a New Sports Drink</a:t>
            </a:r>
            <a:endParaRPr lang="en-US"/>
          </a:p>
        </p:txBody>
      </p:sp>
      <p:sp>
        <p:nvSpPr>
          <p:cNvPr id="4" name="Date Placeholder 3">
            <a:extLst>
              <a:ext uri="{FF2B5EF4-FFF2-40B4-BE49-F238E27FC236}">
                <a16:creationId xmlns:a16="http://schemas.microsoft.com/office/drawing/2014/main" id="{6816FBD8-8966-02A1-BEF0-F21B794F5116}"/>
              </a:ext>
            </a:extLst>
          </p:cNvPr>
          <p:cNvSpPr>
            <a:spLocks noGrp="1"/>
          </p:cNvSpPr>
          <p:nvPr>
            <p:ph type="dt" sz="half" idx="10"/>
          </p:nvPr>
        </p:nvSpPr>
        <p:spPr>
          <a:xfrm>
            <a:off x="457199" y="6397586"/>
            <a:ext cx="4043855" cy="365125"/>
          </a:xfrm>
        </p:spPr>
        <p:txBody>
          <a:bodyPr anchor="ctr">
            <a:normAutofit/>
          </a:bodyPr>
          <a:lstStyle/>
          <a:p>
            <a:pPr>
              <a:spcAft>
                <a:spcPts val="600"/>
              </a:spcAft>
            </a:pPr>
            <a:fld id="{07E5ED5B-F431-4291-9350-DE25B4E24A2B}"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157C9E5A-8469-F8B5-F588-8885357E46CA}"/>
              </a:ext>
            </a:extLst>
          </p:cNvPr>
          <p:cNvSpPr>
            <a:spLocks noGrp="1"/>
          </p:cNvSpPr>
          <p:nvPr>
            <p:ph type="ftr" sz="quarter" idx="11"/>
          </p:nvPr>
        </p:nvSpPr>
        <p:spPr>
          <a:xfrm>
            <a:off x="8324193" y="6397586"/>
            <a:ext cx="3238130"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90F6AC6B-656B-9A19-9F84-5DFC6BD910C3}"/>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2192915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B98A7-554B-C748-0169-3BCA98D4C2EF}"/>
              </a:ext>
            </a:extLst>
          </p:cNvPr>
          <p:cNvSpPr>
            <a:spLocks noGrp="1"/>
          </p:cNvSpPr>
          <p:nvPr>
            <p:ph type="ctrTitle"/>
          </p:nvPr>
        </p:nvSpPr>
        <p:spPr>
          <a:xfrm>
            <a:off x="457198" y="3507830"/>
            <a:ext cx="7589521" cy="2944368"/>
          </a:xfrm>
        </p:spPr>
        <p:txBody>
          <a:bodyPr anchor="b">
            <a:normAutofit/>
          </a:bodyPr>
          <a:lstStyle/>
          <a:p>
            <a:r>
              <a:rPr lang="en-US" sz="6800"/>
              <a:t>Marketing Strategy for a Sports Drink Product Launch</a:t>
            </a:r>
          </a:p>
        </p:txBody>
      </p:sp>
      <p:sp>
        <p:nvSpPr>
          <p:cNvPr id="4" name="Date Placeholder 3">
            <a:extLst>
              <a:ext uri="{FF2B5EF4-FFF2-40B4-BE49-F238E27FC236}">
                <a16:creationId xmlns:a16="http://schemas.microsoft.com/office/drawing/2014/main" id="{1DBDC766-4799-E94E-44E9-AC366AAA3D14}"/>
              </a:ext>
            </a:extLst>
          </p:cNvPr>
          <p:cNvSpPr>
            <a:spLocks noGrp="1"/>
          </p:cNvSpPr>
          <p:nvPr>
            <p:ph type="dt" sz="half" idx="10"/>
          </p:nvPr>
        </p:nvSpPr>
        <p:spPr>
          <a:xfrm>
            <a:off x="457199" y="6397586"/>
            <a:ext cx="4043855" cy="365125"/>
          </a:xfrm>
        </p:spPr>
        <p:txBody>
          <a:bodyPr anchor="ctr">
            <a:normAutofit/>
          </a:bodyPr>
          <a:lstStyle/>
          <a:p>
            <a:pPr>
              <a:spcAft>
                <a:spcPts val="600"/>
              </a:spcAft>
            </a:pPr>
            <a:fld id="{339F097E-7A3A-4F11-9373-FCEF70D478AE}"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D19C2C8E-2237-1953-5B53-98851CC5115B}"/>
              </a:ext>
            </a:extLst>
          </p:cNvPr>
          <p:cNvSpPr>
            <a:spLocks noGrp="1"/>
          </p:cNvSpPr>
          <p:nvPr>
            <p:ph type="ftr" sz="quarter" idx="11"/>
          </p:nvPr>
        </p:nvSpPr>
        <p:spPr>
          <a:xfrm>
            <a:off x="8324193" y="6397586"/>
            <a:ext cx="3238130"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96ED6DA7-BA8D-A026-076F-311AFED0B57C}"/>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2759158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F424-5210-4142-19EB-A24396FE780D}"/>
              </a:ext>
            </a:extLst>
          </p:cNvPr>
          <p:cNvSpPr>
            <a:spLocks noGrp="1"/>
          </p:cNvSpPr>
          <p:nvPr>
            <p:ph type="title"/>
          </p:nvPr>
        </p:nvSpPr>
        <p:spPr>
          <a:xfrm>
            <a:off x="457200" y="457200"/>
            <a:ext cx="11128248" cy="524577"/>
          </a:xfrm>
        </p:spPr>
        <p:txBody>
          <a:bodyPr vert="horz" lIns="91440" tIns="45720" rIns="91440" bIns="45720" rtlCol="0" anchor="b">
            <a:normAutofit/>
          </a:bodyPr>
          <a:lstStyle/>
          <a:p>
            <a:r>
              <a:rPr lang="en-US" sz="3000" b="0" kern="1200">
                <a:latin typeface="+mj-lt"/>
                <a:ea typeface="+mj-ea"/>
                <a:cs typeface="+mj-cs"/>
              </a:rPr>
              <a:t>Market Analysis and Target Audience</a:t>
            </a:r>
          </a:p>
        </p:txBody>
      </p:sp>
      <p:pic>
        <p:nvPicPr>
          <p:cNvPr id="7" name="Content Placeholder 6" descr="Concept of cultured meat on graph">
            <a:extLst>
              <a:ext uri="{FF2B5EF4-FFF2-40B4-BE49-F238E27FC236}">
                <a16:creationId xmlns:a16="http://schemas.microsoft.com/office/drawing/2014/main" id="{DD0362D8-E99C-45C6-B2B0-4F18BBF1E895}"/>
              </a:ext>
            </a:extLst>
          </p:cNvPr>
          <p:cNvPicPr>
            <a:picLocks noGrp="1" noChangeAspect="1"/>
          </p:cNvPicPr>
          <p:nvPr>
            <p:ph type="pic" sz="quarter" idx="13"/>
          </p:nvPr>
        </p:nvPicPr>
        <p:blipFill>
          <a:blip r:embed="rId3"/>
          <a:srcRect l="2827" r="14422"/>
          <a:stretch>
            <a:fillRect/>
          </a:stretch>
        </p:blipFill>
        <p:spPr>
          <a:xfrm>
            <a:off x="1" y="1347108"/>
            <a:ext cx="6831915" cy="5510891"/>
          </a:xfrm>
          <a:noFill/>
        </p:spPr>
      </p:pic>
      <p:sp>
        <p:nvSpPr>
          <p:cNvPr id="8" name="TextBox 7">
            <a:extLst>
              <a:ext uri="{FF2B5EF4-FFF2-40B4-BE49-F238E27FC236}">
                <a16:creationId xmlns:a16="http://schemas.microsoft.com/office/drawing/2014/main" id="{47B6D940-1AA9-48B7-8B6B-1214B1DC5A4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62494" y="1804308"/>
            <a:ext cx="4251960" cy="4425696"/>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100" b="1"/>
              <a:t>Importance of Market Analysis</a:t>
            </a:r>
          </a:p>
          <a:p>
            <a:pPr marL="0" lvl="1" indent="0">
              <a:lnSpc>
                <a:spcPct val="90000"/>
              </a:lnSpc>
              <a:spcBef>
                <a:spcPts val="1000"/>
              </a:spcBef>
              <a:spcAft>
                <a:spcPts val="600"/>
              </a:spcAft>
              <a:buFont typeface="Arial" panose="020B0604020202020204" pitchFamily="34" charset="0"/>
              <a:buNone/>
            </a:pPr>
            <a:r>
              <a:rPr lang="en-US" sz="1100"/>
              <a:t>Conducting thorough market analysis is essential to identify the target audience for the new sports drink, ensuring effective marketing strategies.</a:t>
            </a:r>
          </a:p>
          <a:p>
            <a:pPr marL="0" indent="0">
              <a:lnSpc>
                <a:spcPct val="90000"/>
              </a:lnSpc>
              <a:spcBef>
                <a:spcPts val="2500"/>
              </a:spcBef>
              <a:spcAft>
                <a:spcPts val="600"/>
              </a:spcAft>
              <a:buFont typeface="Arial" panose="020B0604020202020204" pitchFamily="34" charset="0"/>
              <a:buNone/>
            </a:pPr>
            <a:r>
              <a:rPr lang="en-US" sz="1100" b="1"/>
              <a:t>Understanding Consumer Preferences</a:t>
            </a:r>
          </a:p>
          <a:p>
            <a:pPr marL="0" lvl="1" indent="0">
              <a:lnSpc>
                <a:spcPct val="90000"/>
              </a:lnSpc>
              <a:spcBef>
                <a:spcPts val="1000"/>
              </a:spcBef>
              <a:spcAft>
                <a:spcPts val="600"/>
              </a:spcAft>
              <a:buFont typeface="Arial" panose="020B0604020202020204" pitchFamily="34" charset="0"/>
              <a:buNone/>
            </a:pPr>
            <a:r>
              <a:rPr lang="en-US" sz="1100"/>
              <a:t>Understanding consumer preferences helps tailor the sports drink to meet the specific needs and desires of the target audience.</a:t>
            </a:r>
          </a:p>
          <a:p>
            <a:pPr marL="0" indent="0">
              <a:lnSpc>
                <a:spcPct val="90000"/>
              </a:lnSpc>
              <a:spcBef>
                <a:spcPts val="2500"/>
              </a:spcBef>
              <a:spcAft>
                <a:spcPts val="600"/>
              </a:spcAft>
              <a:buFont typeface="Arial" panose="020B0604020202020204" pitchFamily="34" charset="0"/>
              <a:buNone/>
            </a:pPr>
            <a:r>
              <a:rPr lang="en-US" sz="1100" b="1"/>
              <a:t>Trends in Sports Nutrition</a:t>
            </a:r>
          </a:p>
          <a:p>
            <a:pPr marL="0" lvl="1" indent="0">
              <a:lnSpc>
                <a:spcPct val="90000"/>
              </a:lnSpc>
              <a:spcBef>
                <a:spcPts val="1000"/>
              </a:spcBef>
              <a:spcAft>
                <a:spcPts val="600"/>
              </a:spcAft>
              <a:buFont typeface="Arial" panose="020B0604020202020204" pitchFamily="34" charset="0"/>
              <a:buNone/>
            </a:pPr>
            <a:r>
              <a:rPr lang="en-US" sz="1100"/>
              <a:t>Identifying trends in sports nutrition allows for the development of a product that aligns with current market demands and consumer interests.</a:t>
            </a:r>
          </a:p>
          <a:p>
            <a:pPr marL="0" indent="0">
              <a:lnSpc>
                <a:spcPct val="90000"/>
              </a:lnSpc>
              <a:spcBef>
                <a:spcPts val="2500"/>
              </a:spcBef>
              <a:spcAft>
                <a:spcPts val="600"/>
              </a:spcAft>
              <a:buFont typeface="Arial" panose="020B0604020202020204" pitchFamily="34" charset="0"/>
              <a:buNone/>
            </a:pPr>
            <a:r>
              <a:rPr lang="en-US" sz="1100" b="1"/>
              <a:t>Analyzing Competitors</a:t>
            </a:r>
          </a:p>
          <a:p>
            <a:pPr marL="0" lvl="1" indent="0">
              <a:lnSpc>
                <a:spcPct val="90000"/>
              </a:lnSpc>
              <a:spcBef>
                <a:spcPts val="1000"/>
              </a:spcBef>
              <a:spcAft>
                <a:spcPts val="600"/>
              </a:spcAft>
              <a:buFont typeface="Arial" panose="020B0604020202020204" pitchFamily="34" charset="0"/>
              <a:buNone/>
            </a:pPr>
            <a:r>
              <a:rPr lang="en-US" sz="1100"/>
              <a:t>Analyzing potential competitors in the market helps in positioning the new sports drink effectively and identifying unique selling points.</a:t>
            </a:r>
          </a:p>
        </p:txBody>
      </p:sp>
      <p:sp>
        <p:nvSpPr>
          <p:cNvPr id="4" name="Date Placeholder 3">
            <a:extLst>
              <a:ext uri="{FF2B5EF4-FFF2-40B4-BE49-F238E27FC236}">
                <a16:creationId xmlns:a16="http://schemas.microsoft.com/office/drawing/2014/main" id="{F315DAAA-D56D-C830-6A5E-E06058D0CE57}"/>
              </a:ext>
            </a:extLst>
          </p:cNvPr>
          <p:cNvSpPr>
            <a:spLocks noGrp="1"/>
          </p:cNvSpPr>
          <p:nvPr>
            <p:ph type="dt" sz="half" idx="10"/>
          </p:nvPr>
        </p:nvSpPr>
        <p:spPr>
          <a:xfrm>
            <a:off x="7362494" y="6397586"/>
            <a:ext cx="961699"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02286C0F-65CE-4D70-E82F-6AA2279A9904}"/>
              </a:ext>
            </a:extLst>
          </p:cNvPr>
          <p:cNvSpPr>
            <a:spLocks noGrp="1"/>
          </p:cNvSpPr>
          <p:nvPr>
            <p:ph type="ftr" sz="quarter" idx="11"/>
          </p:nvPr>
        </p:nvSpPr>
        <p:spPr>
          <a:xfrm>
            <a:off x="8324193" y="6397586"/>
            <a:ext cx="3238130" cy="365125"/>
          </a:xfrm>
        </p:spPr>
        <p:txBody>
          <a:bodyPr vert="horz" lIns="91440" tIns="45720" rIns="91440" bIns="45720" rtlCol="0" anchor="ctr">
            <a:normAutofit/>
          </a:bodyPr>
          <a:lstStyle/>
          <a:p>
            <a:pPr>
              <a:spcAft>
                <a:spcPts val="600"/>
              </a:spcAft>
            </a:pPr>
            <a:r>
              <a:rPr lang="en-US" kern="1200">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B57722C1-ED33-CDA3-A4B5-993D59E46B54}"/>
              </a:ext>
            </a:extLst>
          </p:cNvPr>
          <p:cNvSpPr>
            <a:spLocks noGrp="1"/>
          </p:cNvSpPr>
          <p:nvPr>
            <p:ph type="sldNum" sz="quarter" idx="12"/>
          </p:nvPr>
        </p:nvSpPr>
        <p:spPr>
          <a:xfrm>
            <a:off x="11562323" y="6397586"/>
            <a:ext cx="530578"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654943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7D27A-4606-4531-4E94-F72088861C99}"/>
              </a:ext>
            </a:extLst>
          </p:cNvPr>
          <p:cNvSpPr>
            <a:spLocks noGrp="1"/>
          </p:cNvSpPr>
          <p:nvPr>
            <p:ph type="title"/>
          </p:nvPr>
        </p:nvSpPr>
        <p:spPr>
          <a:xfrm>
            <a:off x="457200" y="433551"/>
            <a:ext cx="3836126" cy="1434662"/>
          </a:xfrm>
        </p:spPr>
        <p:txBody>
          <a:bodyPr vert="horz" lIns="91440" tIns="45720" rIns="91440" bIns="45720" rtlCol="0" anchor="b">
            <a:normAutofit/>
          </a:bodyPr>
          <a:lstStyle/>
          <a:p>
            <a:r>
              <a:rPr lang="en-US" b="0" kern="1200">
                <a:latin typeface="+mj-lt"/>
                <a:ea typeface="+mj-ea"/>
                <a:cs typeface="+mj-cs"/>
              </a:rPr>
              <a:t>Product Positioning and Unique Selling Proposition (USP)</a:t>
            </a:r>
          </a:p>
        </p:txBody>
      </p:sp>
      <p:sp>
        <p:nvSpPr>
          <p:cNvPr id="8" name="TextBox 7">
            <a:extLst>
              <a:ext uri="{FF2B5EF4-FFF2-40B4-BE49-F238E27FC236}">
                <a16:creationId xmlns:a16="http://schemas.microsoft.com/office/drawing/2014/main" id="{A0E88B0A-5E5D-42FC-9DEE-3CF3EFF1C1D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2413678"/>
            <a:ext cx="3836126" cy="3892529"/>
          </a:xfrm>
          <a:prstGeom prst="rect">
            <a:avLst/>
          </a:prstGeom>
        </p:spPr>
        <p:txBody>
          <a:bodyPr>
            <a:normAutofit/>
          </a:bodyPr>
          <a:lstStyle/>
          <a:p>
            <a:pPr marL="0" indent="0">
              <a:spcBef>
                <a:spcPts val="2500"/>
              </a:spcBef>
              <a:spcAft>
                <a:spcPts val="600"/>
              </a:spcAft>
              <a:buNone/>
            </a:pPr>
            <a:r>
              <a:rPr lang="en-US" sz="1300" b="1"/>
              <a:t>Differentiation from Competitors</a:t>
            </a:r>
          </a:p>
          <a:p>
            <a:pPr marL="0" lvl="1" indent="0">
              <a:spcBef>
                <a:spcPts val="1000"/>
              </a:spcBef>
              <a:spcAft>
                <a:spcPts val="600"/>
              </a:spcAft>
              <a:buNone/>
            </a:pPr>
            <a:r>
              <a:rPr lang="en-US" sz="1300"/>
              <a:t>Clearly define how your sports drink stands out in the market. Highlight aspects such as unique formulations or innovative packaging.</a:t>
            </a:r>
          </a:p>
          <a:p>
            <a:pPr marL="0" indent="0">
              <a:spcBef>
                <a:spcPts val="2500"/>
              </a:spcBef>
              <a:spcAft>
                <a:spcPts val="600"/>
              </a:spcAft>
              <a:buNone/>
            </a:pPr>
            <a:r>
              <a:rPr lang="en-US" sz="1300" b="1"/>
              <a:t>Highlighting Key Benefits</a:t>
            </a:r>
          </a:p>
          <a:p>
            <a:pPr marL="0" lvl="1" indent="0">
              <a:spcBef>
                <a:spcPts val="1000"/>
              </a:spcBef>
              <a:spcAft>
                <a:spcPts val="600"/>
              </a:spcAft>
              <a:buNone/>
            </a:pPr>
            <a:r>
              <a:rPr lang="en-US" sz="1300"/>
              <a:t>Emphasize specific benefits like natural ingredients and enhanced hydration efficiency that resonate with health-conscious consumers.</a:t>
            </a:r>
          </a:p>
          <a:p>
            <a:pPr marL="0" indent="0">
              <a:spcBef>
                <a:spcPts val="2500"/>
              </a:spcBef>
              <a:spcAft>
                <a:spcPts val="600"/>
              </a:spcAft>
              <a:buNone/>
            </a:pPr>
            <a:r>
              <a:rPr lang="en-US" sz="1300" b="1"/>
              <a:t>Appealing Flavors and Options</a:t>
            </a:r>
          </a:p>
          <a:p>
            <a:pPr marL="0" lvl="1" indent="0">
              <a:spcBef>
                <a:spcPts val="1000"/>
              </a:spcBef>
              <a:spcAft>
                <a:spcPts val="600"/>
              </a:spcAft>
              <a:buNone/>
            </a:pPr>
            <a:r>
              <a:rPr lang="en-US" sz="1300"/>
              <a:t>Showcase a variety of flavors that cater to diverse taste preferences, making your product more appealing to consumers.</a:t>
            </a:r>
          </a:p>
        </p:txBody>
      </p:sp>
      <p:sp>
        <p:nvSpPr>
          <p:cNvPr id="4" name="Date Placeholder 3">
            <a:extLst>
              <a:ext uri="{FF2B5EF4-FFF2-40B4-BE49-F238E27FC236}">
                <a16:creationId xmlns:a16="http://schemas.microsoft.com/office/drawing/2014/main" id="{440B856C-837D-0FBE-EEE0-3744571BC90F}"/>
              </a:ext>
            </a:extLst>
          </p:cNvPr>
          <p:cNvSpPr>
            <a:spLocks noGrp="1"/>
          </p:cNvSpPr>
          <p:nvPr>
            <p:ph type="dt" sz="half" idx="10"/>
          </p:nvPr>
        </p:nvSpPr>
        <p:spPr>
          <a:xfrm>
            <a:off x="457200" y="6398016"/>
            <a:ext cx="1505607"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F6AA9F1A-91D8-9E23-73DD-36C506AC91C2}"/>
              </a:ext>
            </a:extLst>
          </p:cNvPr>
          <p:cNvSpPr>
            <a:spLocks noGrp="1"/>
          </p:cNvSpPr>
          <p:nvPr>
            <p:ph type="ftr" sz="quarter" idx="11"/>
          </p:nvPr>
        </p:nvSpPr>
        <p:spPr>
          <a:xfrm>
            <a:off x="1962807" y="6398016"/>
            <a:ext cx="2204852" cy="365125"/>
          </a:xfrm>
        </p:spPr>
        <p:txBody>
          <a:bodyPr vert="horz" lIns="91440" tIns="45720" rIns="91440" bIns="45720" rtlCol="0" anchor="ctr">
            <a:normAutofit/>
          </a:bodyPr>
          <a:lstStyle/>
          <a:p>
            <a:pPr>
              <a:spcAft>
                <a:spcPts val="600"/>
              </a:spcAft>
            </a:pPr>
            <a:r>
              <a:rPr lang="en-US" kern="1200">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09375B84-9282-80FC-BB54-C0A3E32326C9}"/>
              </a:ext>
            </a:extLst>
          </p:cNvPr>
          <p:cNvSpPr>
            <a:spLocks noGrp="1"/>
          </p:cNvSpPr>
          <p:nvPr>
            <p:ph type="sldNum" sz="quarter" idx="12"/>
          </p:nvPr>
        </p:nvSpPr>
        <p:spPr>
          <a:xfrm>
            <a:off x="4160345" y="6398016"/>
            <a:ext cx="512380"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5</a:t>
            </a:fld>
            <a:endParaRPr lang="en-US"/>
          </a:p>
        </p:txBody>
      </p:sp>
      <p:pic>
        <p:nvPicPr>
          <p:cNvPr id="7" name="Content Placeholder 6" descr="Colorful paints on red background in plastic tubes">
            <a:extLst>
              <a:ext uri="{FF2B5EF4-FFF2-40B4-BE49-F238E27FC236}">
                <a16:creationId xmlns:a16="http://schemas.microsoft.com/office/drawing/2014/main" id="{18EB75C2-212C-4093-B4FC-7CE555A8FA3B}"/>
              </a:ext>
            </a:extLst>
          </p:cNvPr>
          <p:cNvPicPr>
            <a:picLocks noGrp="1" noChangeAspect="1"/>
          </p:cNvPicPr>
          <p:nvPr>
            <p:ph type="pic" sz="quarter" idx="13"/>
          </p:nvPr>
        </p:nvPicPr>
        <p:blipFill>
          <a:blip r:embed="rId3"/>
          <a:srcRect l="13197" r="14482" b="-1"/>
          <a:stretch>
            <a:fillRect/>
          </a:stretch>
        </p:blipFill>
        <p:spPr>
          <a:xfrm>
            <a:off x="4761780" y="10"/>
            <a:ext cx="7430219" cy="6857990"/>
          </a:xfrm>
          <a:noFill/>
        </p:spPr>
      </p:pic>
    </p:spTree>
    <p:extLst>
      <p:ext uri="{BB962C8B-B14F-4D97-AF65-F5344CB8AC3E}">
        <p14:creationId xmlns:p14="http://schemas.microsoft.com/office/powerpoint/2010/main" val="3406876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3CAA-5D51-2506-AD59-D65CE66A587F}"/>
              </a:ext>
            </a:extLst>
          </p:cNvPr>
          <p:cNvSpPr>
            <a:spLocks noGrp="1"/>
          </p:cNvSpPr>
          <p:nvPr>
            <p:ph type="title"/>
          </p:nvPr>
        </p:nvSpPr>
        <p:spPr>
          <a:xfrm>
            <a:off x="4541264" y="320040"/>
            <a:ext cx="7062472" cy="1105348"/>
          </a:xfrm>
        </p:spPr>
        <p:txBody>
          <a:bodyPr vert="horz" lIns="91440" tIns="45720" rIns="91440" bIns="45720" rtlCol="0" anchor="b">
            <a:normAutofit/>
          </a:bodyPr>
          <a:lstStyle/>
          <a:p>
            <a:r>
              <a:rPr lang="en-US" b="0" kern="1200">
                <a:latin typeface="+mj-lt"/>
                <a:ea typeface="+mj-ea"/>
                <a:cs typeface="+mj-cs"/>
              </a:rPr>
              <a:t>Marketing Channels and Tactics</a:t>
            </a:r>
          </a:p>
        </p:txBody>
      </p:sp>
      <p:pic>
        <p:nvPicPr>
          <p:cNvPr id="7" name="Content Placeholder 6" descr="Viral spread diagram overlaid on a crowd of people.">
            <a:extLst>
              <a:ext uri="{FF2B5EF4-FFF2-40B4-BE49-F238E27FC236}">
                <a16:creationId xmlns:a16="http://schemas.microsoft.com/office/drawing/2014/main" id="{6E0F88A0-E3D9-40D7-BAC3-577DB78C5671}"/>
              </a:ext>
            </a:extLst>
          </p:cNvPr>
          <p:cNvPicPr>
            <a:picLocks noGrp="1" noChangeAspect="1"/>
          </p:cNvPicPr>
          <p:nvPr>
            <p:ph type="pic" sz="quarter" idx="13"/>
          </p:nvPr>
        </p:nvPicPr>
        <p:blipFill>
          <a:blip r:embed="rId3"/>
          <a:srcRect l="24064" r="34904" b="1"/>
          <a:stretch>
            <a:fillRect/>
          </a:stretch>
        </p:blipFill>
        <p:spPr>
          <a:xfrm>
            <a:off x="20" y="1"/>
            <a:ext cx="4019910" cy="6858000"/>
          </a:xfrm>
          <a:noFill/>
        </p:spPr>
      </p:pic>
      <p:sp>
        <p:nvSpPr>
          <p:cNvPr id="8" name="TextBox 7">
            <a:extLst>
              <a:ext uri="{FF2B5EF4-FFF2-40B4-BE49-F238E27FC236}">
                <a16:creationId xmlns:a16="http://schemas.microsoft.com/office/drawing/2014/main" id="{1803B142-E608-40C0-947D-2149EB04EC5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Effective Channel Selection</a:t>
            </a:r>
          </a:p>
          <a:p>
            <a:pPr marL="0" lvl="1" indent="0">
              <a:spcBef>
                <a:spcPts val="1000"/>
              </a:spcBef>
              <a:spcAft>
                <a:spcPts val="600"/>
              </a:spcAft>
              <a:buFont typeface="Arial" panose="020B0604020202020204" pitchFamily="34" charset="0"/>
              <a:buNone/>
            </a:pPr>
            <a:r>
              <a:rPr lang="en-US" sz="1400"/>
              <a:t>Choosing the right channels is crucial for effectively reaching your target audience and boosting engagement.</a:t>
            </a:r>
          </a:p>
          <a:p>
            <a:pPr marL="0" indent="0">
              <a:spcBef>
                <a:spcPts val="2500"/>
              </a:spcBef>
              <a:spcAft>
                <a:spcPts val="600"/>
              </a:spcAft>
              <a:buFont typeface="Arial" panose="020B0604020202020204" pitchFamily="34" charset="0"/>
              <a:buNone/>
            </a:pPr>
            <a:r>
              <a:rPr lang="en-US" sz="1400" b="1"/>
              <a:t>Social Media Marketing</a:t>
            </a:r>
          </a:p>
          <a:p>
            <a:pPr marL="0" lvl="1" indent="0">
              <a:spcBef>
                <a:spcPts val="1000"/>
              </a:spcBef>
              <a:spcAft>
                <a:spcPts val="600"/>
              </a:spcAft>
              <a:buFont typeface="Arial" panose="020B0604020202020204" pitchFamily="34" charset="0"/>
              <a:buNone/>
            </a:pPr>
            <a:r>
              <a:rPr lang="en-US" sz="1400"/>
              <a:t>Utilizing social media platforms can enhance visibility and foster direct engagement with your audience.</a:t>
            </a:r>
          </a:p>
          <a:p>
            <a:pPr marL="0" indent="0">
              <a:spcBef>
                <a:spcPts val="2500"/>
              </a:spcBef>
              <a:spcAft>
                <a:spcPts val="600"/>
              </a:spcAft>
              <a:buFont typeface="Arial" panose="020B0604020202020204" pitchFamily="34" charset="0"/>
              <a:buNone/>
            </a:pPr>
            <a:r>
              <a:rPr lang="en-US" sz="1400" b="1"/>
              <a:t>Influencer Partnerships</a:t>
            </a:r>
          </a:p>
          <a:p>
            <a:pPr marL="0" lvl="1" indent="0">
              <a:spcBef>
                <a:spcPts val="1000"/>
              </a:spcBef>
              <a:spcAft>
                <a:spcPts val="600"/>
              </a:spcAft>
              <a:buFont typeface="Arial" panose="020B0604020202020204" pitchFamily="34" charset="0"/>
              <a:buNone/>
            </a:pPr>
            <a:r>
              <a:rPr lang="en-US" sz="1400"/>
              <a:t>Collaborating with influencers helps to leverage their audience and credibility, boosting brand recognition.</a:t>
            </a:r>
          </a:p>
          <a:p>
            <a:pPr marL="0" indent="0">
              <a:spcBef>
                <a:spcPts val="2500"/>
              </a:spcBef>
              <a:spcAft>
                <a:spcPts val="600"/>
              </a:spcAft>
              <a:buFont typeface="Arial" panose="020B0604020202020204" pitchFamily="34" charset="0"/>
              <a:buNone/>
            </a:pPr>
            <a:r>
              <a:rPr lang="en-US" sz="1400" b="1"/>
              <a:t>Sponsoring Sports Events</a:t>
            </a:r>
          </a:p>
          <a:p>
            <a:pPr marL="0" lvl="1" indent="0">
              <a:spcBef>
                <a:spcPts val="1000"/>
              </a:spcBef>
              <a:spcAft>
                <a:spcPts val="600"/>
              </a:spcAft>
              <a:buFont typeface="Arial" panose="020B0604020202020204" pitchFamily="34" charset="0"/>
              <a:buNone/>
            </a:pPr>
            <a:r>
              <a:rPr lang="en-US" sz="1400"/>
              <a:t>Participating in or sponsoring sports events can significantly increase brand visibility and connect with potential customers.</a:t>
            </a:r>
          </a:p>
        </p:txBody>
      </p:sp>
      <p:sp>
        <p:nvSpPr>
          <p:cNvPr id="4" name="Date Placeholder 3">
            <a:extLst>
              <a:ext uri="{FF2B5EF4-FFF2-40B4-BE49-F238E27FC236}">
                <a16:creationId xmlns:a16="http://schemas.microsoft.com/office/drawing/2014/main" id="{4D9D8D4C-8F09-3134-46B3-A2CA3D564540}"/>
              </a:ext>
            </a:extLst>
          </p:cNvPr>
          <p:cNvSpPr>
            <a:spLocks noGrp="1"/>
          </p:cNvSpPr>
          <p:nvPr>
            <p:ph type="dt" sz="half" idx="15"/>
          </p:nvPr>
        </p:nvSpPr>
        <p:spPr>
          <a:xfrm>
            <a:off x="4541264" y="6397586"/>
            <a:ext cx="3698786"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18DAD725-5905-2461-422B-E3D0C3BC843E}"/>
              </a:ext>
            </a:extLst>
          </p:cNvPr>
          <p:cNvSpPr>
            <a:spLocks noGrp="1"/>
          </p:cNvSpPr>
          <p:nvPr>
            <p:ph type="ftr" sz="quarter" idx="16"/>
          </p:nvPr>
        </p:nvSpPr>
        <p:spPr>
          <a:xfrm>
            <a:off x="8326257" y="6397586"/>
            <a:ext cx="3184635" cy="365125"/>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D4E5246A-294C-2031-1876-7C3513A8C31B}"/>
              </a:ext>
            </a:extLst>
          </p:cNvPr>
          <p:cNvSpPr>
            <a:spLocks noGrp="1"/>
          </p:cNvSpPr>
          <p:nvPr>
            <p:ph type="sldNum" sz="quarter" idx="17"/>
          </p:nvPr>
        </p:nvSpPr>
        <p:spPr>
          <a:xfrm>
            <a:off x="11562323" y="6397586"/>
            <a:ext cx="530578"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230443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C7A9-B5D2-FE84-6E4B-13421C221FB2}"/>
              </a:ext>
            </a:extLst>
          </p:cNvPr>
          <p:cNvSpPr>
            <a:spLocks noGrp="1"/>
          </p:cNvSpPr>
          <p:nvPr>
            <p:ph type="title"/>
          </p:nvPr>
        </p:nvSpPr>
        <p:spPr>
          <a:xfrm>
            <a:off x="457198" y="457200"/>
            <a:ext cx="4702629" cy="967512"/>
          </a:xfrm>
        </p:spPr>
        <p:txBody>
          <a:bodyPr vert="horz" lIns="91440" tIns="45720" rIns="91440" bIns="45720" rtlCol="0" anchor="b">
            <a:normAutofit/>
          </a:bodyPr>
          <a:lstStyle/>
          <a:p>
            <a:r>
              <a:rPr lang="en-US" sz="3000" b="0" kern="1200">
                <a:latin typeface="+mj-lt"/>
                <a:ea typeface="+mj-ea"/>
                <a:cs typeface="+mj-cs"/>
              </a:rPr>
              <a:t>Launch Timeline and Key Milestones</a:t>
            </a:r>
          </a:p>
        </p:txBody>
      </p:sp>
      <p:sp>
        <p:nvSpPr>
          <p:cNvPr id="8" name="TextBox 7">
            <a:extLst>
              <a:ext uri="{FF2B5EF4-FFF2-40B4-BE49-F238E27FC236}">
                <a16:creationId xmlns:a16="http://schemas.microsoft.com/office/drawing/2014/main" id="{2E0AB1DF-D1A6-4DDA-BF5F-0E8C96837AB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596593"/>
            <a:ext cx="4702629" cy="476580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Importance of a Timeline</a:t>
            </a:r>
          </a:p>
          <a:p>
            <a:pPr marL="0" lvl="1" indent="0">
              <a:spcBef>
                <a:spcPts val="1000"/>
              </a:spcBef>
              <a:spcAft>
                <a:spcPts val="600"/>
              </a:spcAft>
              <a:buFont typeface="Arial" panose="020B0604020202020204" pitchFamily="34" charset="0"/>
              <a:buNone/>
            </a:pPr>
            <a:r>
              <a:rPr lang="en-US" sz="1400"/>
              <a:t>A well-structured timeline is essential for tracking progress and ensuring timely execution of critical actions.</a:t>
            </a:r>
          </a:p>
          <a:p>
            <a:pPr marL="0" indent="0">
              <a:spcBef>
                <a:spcPts val="2500"/>
              </a:spcBef>
              <a:spcAft>
                <a:spcPts val="600"/>
              </a:spcAft>
              <a:buFont typeface="Arial" panose="020B0604020202020204" pitchFamily="34" charset="0"/>
              <a:buNone/>
            </a:pPr>
            <a:r>
              <a:rPr lang="en-US" sz="1400" b="1"/>
              <a:t>Key Milestones Overview</a:t>
            </a:r>
          </a:p>
          <a:p>
            <a:pPr marL="0" lvl="1" indent="0">
              <a:spcBef>
                <a:spcPts val="1000"/>
              </a:spcBef>
              <a:spcAft>
                <a:spcPts val="600"/>
              </a:spcAft>
              <a:buFont typeface="Arial" panose="020B0604020202020204" pitchFamily="34" charset="0"/>
              <a:buNone/>
            </a:pPr>
            <a:r>
              <a:rPr lang="en-US" sz="1400"/>
              <a:t>Identifying key milestones helps in outlining crucial steps from product development to marketing strategies.</a:t>
            </a:r>
          </a:p>
          <a:p>
            <a:pPr marL="0" indent="0">
              <a:spcBef>
                <a:spcPts val="2500"/>
              </a:spcBef>
              <a:spcAft>
                <a:spcPts val="600"/>
              </a:spcAft>
              <a:buFont typeface="Arial" panose="020B0604020202020204" pitchFamily="34" charset="0"/>
              <a:buNone/>
            </a:pPr>
            <a:r>
              <a:rPr lang="en-US" sz="1400" b="1"/>
              <a:t>Product Development Phases</a:t>
            </a:r>
          </a:p>
          <a:p>
            <a:pPr marL="0" lvl="1" indent="0">
              <a:spcBef>
                <a:spcPts val="1000"/>
              </a:spcBef>
              <a:spcAft>
                <a:spcPts val="600"/>
              </a:spcAft>
              <a:buFont typeface="Arial" panose="020B0604020202020204" pitchFamily="34" charset="0"/>
              <a:buNone/>
            </a:pPr>
            <a:r>
              <a:rPr lang="en-US" sz="1400"/>
              <a:t>From ideation to launch, each phase of product development must be carefully planned and executed.</a:t>
            </a:r>
          </a:p>
        </p:txBody>
      </p:sp>
      <p:sp>
        <p:nvSpPr>
          <p:cNvPr id="4" name="Date Placeholder 3">
            <a:extLst>
              <a:ext uri="{FF2B5EF4-FFF2-40B4-BE49-F238E27FC236}">
                <a16:creationId xmlns:a16="http://schemas.microsoft.com/office/drawing/2014/main" id="{B4628266-E4B9-F10F-6C44-3D8A2183EB00}"/>
              </a:ext>
            </a:extLst>
          </p:cNvPr>
          <p:cNvSpPr>
            <a:spLocks noGrp="1"/>
          </p:cNvSpPr>
          <p:nvPr>
            <p:ph type="dt" sz="half" idx="10"/>
          </p:nvPr>
        </p:nvSpPr>
        <p:spPr>
          <a:xfrm>
            <a:off x="457200" y="6400800"/>
            <a:ext cx="1926771"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76A55D8B-F97D-50D0-C562-B2D2520398C1}"/>
              </a:ext>
            </a:extLst>
          </p:cNvPr>
          <p:cNvSpPr>
            <a:spLocks noGrp="1"/>
          </p:cNvSpPr>
          <p:nvPr>
            <p:ph type="ftr" sz="quarter" idx="11"/>
          </p:nvPr>
        </p:nvSpPr>
        <p:spPr>
          <a:xfrm>
            <a:off x="2383971" y="6400800"/>
            <a:ext cx="2530929" cy="365125"/>
          </a:xfrm>
        </p:spPr>
        <p:txBody>
          <a:bodyPr vert="horz" lIns="91440" tIns="45720" rIns="91440" bIns="45720" rtlCol="0" anchor="ctr">
            <a:normAutofit/>
          </a:bodyPr>
          <a:lstStyle/>
          <a:p>
            <a:pPr>
              <a:spcAft>
                <a:spcPts val="600"/>
              </a:spcAft>
            </a:pPr>
            <a:r>
              <a:rPr lang="en-US" kern="1200">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4D4181BC-EF39-E9A9-3405-18851CF63B20}"/>
              </a:ext>
            </a:extLst>
          </p:cNvPr>
          <p:cNvSpPr>
            <a:spLocks noGrp="1"/>
          </p:cNvSpPr>
          <p:nvPr>
            <p:ph type="sldNum" sz="quarter" idx="12"/>
          </p:nvPr>
        </p:nvSpPr>
        <p:spPr>
          <a:xfrm>
            <a:off x="4980215" y="6400800"/>
            <a:ext cx="529680"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7</a:t>
            </a:fld>
            <a:endParaRPr lang="en-US"/>
          </a:p>
        </p:txBody>
      </p:sp>
      <p:pic>
        <p:nvPicPr>
          <p:cNvPr id="7" name="Content Placeholder 6" descr="http://2.bp.blogspot.com/_nfGE6pTtBkA/TVBSUyGQ7fI/AAAAAAAAADo/EhooIG5YSrc/s1600/competition%2Bbanner.jpg">
            <a:extLst>
              <a:ext uri="{FF2B5EF4-FFF2-40B4-BE49-F238E27FC236}">
                <a16:creationId xmlns:a16="http://schemas.microsoft.com/office/drawing/2014/main" id="{B55C4380-8275-4D4D-820C-F2C52B27A087}"/>
              </a:ext>
            </a:extLst>
          </p:cNvPr>
          <p:cNvPicPr>
            <a:picLocks noGrp="1" noChangeAspect="1"/>
          </p:cNvPicPr>
          <p:nvPr>
            <p:ph type="pic" sz="quarter" idx="13"/>
          </p:nvPr>
        </p:nvPicPr>
        <p:blipFill>
          <a:blip r:embed="rId3"/>
          <a:srcRect l="21965" r="6665"/>
          <a:stretch>
            <a:fillRect/>
          </a:stretch>
        </p:blipFill>
        <p:spPr>
          <a:xfrm>
            <a:off x="5666014" y="10"/>
            <a:ext cx="6525985" cy="6857990"/>
          </a:xfrm>
          <a:noFill/>
        </p:spPr>
      </p:pic>
    </p:spTree>
    <p:extLst>
      <p:ext uri="{BB962C8B-B14F-4D97-AF65-F5344CB8AC3E}">
        <p14:creationId xmlns:p14="http://schemas.microsoft.com/office/powerpoint/2010/main" val="970013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7AAA3-D981-6178-8AEA-A5062C860C2E}"/>
              </a:ext>
            </a:extLst>
          </p:cNvPr>
          <p:cNvSpPr>
            <a:spLocks noGrp="1"/>
          </p:cNvSpPr>
          <p:nvPr>
            <p:ph type="title"/>
          </p:nvPr>
        </p:nvSpPr>
        <p:spPr>
          <a:xfrm>
            <a:off x="457200" y="433551"/>
            <a:ext cx="3836126" cy="1434662"/>
          </a:xfrm>
        </p:spPr>
        <p:txBody>
          <a:bodyPr vert="horz" lIns="91440" tIns="45720" rIns="91440" bIns="45720" rtlCol="0" anchor="b">
            <a:normAutofit/>
          </a:bodyPr>
          <a:lstStyle/>
          <a:p>
            <a:r>
              <a:rPr lang="en-US" b="0" kern="1200">
                <a:latin typeface="+mj-lt"/>
                <a:ea typeface="+mj-ea"/>
                <a:cs typeface="+mj-cs"/>
              </a:rPr>
              <a:t>Performance Metrics and Evaluation</a:t>
            </a:r>
          </a:p>
        </p:txBody>
      </p:sp>
      <p:sp>
        <p:nvSpPr>
          <p:cNvPr id="8" name="TextBox 7">
            <a:extLst>
              <a:ext uri="{FF2B5EF4-FFF2-40B4-BE49-F238E27FC236}">
                <a16:creationId xmlns:a16="http://schemas.microsoft.com/office/drawing/2014/main" id="{DC2736D7-EDB5-411B-B57F-56B10F0C013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2413678"/>
            <a:ext cx="3836126" cy="3892529"/>
          </a:xfrm>
          <a:prstGeom prst="rect">
            <a:avLst/>
          </a:prstGeom>
        </p:spPr>
        <p:txBody>
          <a:bodyPr>
            <a:normAutofit/>
          </a:bodyPr>
          <a:lstStyle/>
          <a:p>
            <a:pPr marL="0" indent="0">
              <a:lnSpc>
                <a:spcPct val="90000"/>
              </a:lnSpc>
              <a:spcBef>
                <a:spcPts val="2500"/>
              </a:spcBef>
              <a:spcAft>
                <a:spcPts val="600"/>
              </a:spcAft>
              <a:buNone/>
            </a:pPr>
            <a:r>
              <a:rPr lang="en-US" sz="1400" b="1"/>
              <a:t>Importance of Metrics</a:t>
            </a:r>
          </a:p>
          <a:p>
            <a:pPr marL="0" lvl="1" indent="0">
              <a:lnSpc>
                <a:spcPct val="90000"/>
              </a:lnSpc>
              <a:spcBef>
                <a:spcPts val="1000"/>
              </a:spcBef>
              <a:spcAft>
                <a:spcPts val="600"/>
              </a:spcAft>
              <a:buNone/>
            </a:pPr>
            <a:r>
              <a:rPr lang="en-US" sz="1400"/>
              <a:t>Establishing performance metrics is crucial for measuring the effectiveness of any launch strategy.</a:t>
            </a:r>
          </a:p>
          <a:p>
            <a:pPr marL="0" indent="0">
              <a:lnSpc>
                <a:spcPct val="90000"/>
              </a:lnSpc>
              <a:spcBef>
                <a:spcPts val="2500"/>
              </a:spcBef>
              <a:spcAft>
                <a:spcPts val="600"/>
              </a:spcAft>
              <a:buNone/>
            </a:pPr>
            <a:r>
              <a:rPr lang="en-US" sz="1400" b="1"/>
              <a:t>Key Performance Indicators</a:t>
            </a:r>
          </a:p>
          <a:p>
            <a:pPr marL="0" lvl="1" indent="0">
              <a:lnSpc>
                <a:spcPct val="90000"/>
              </a:lnSpc>
              <a:spcBef>
                <a:spcPts val="1000"/>
              </a:spcBef>
              <a:spcAft>
                <a:spcPts val="600"/>
              </a:spcAft>
              <a:buNone/>
            </a:pPr>
            <a:r>
              <a:rPr lang="en-US" sz="1400"/>
              <a:t>Focus on key indicators like sales figures, customer feedback, and brand awareness to assess success.</a:t>
            </a:r>
          </a:p>
          <a:p>
            <a:pPr marL="0" indent="0">
              <a:lnSpc>
                <a:spcPct val="90000"/>
              </a:lnSpc>
              <a:spcBef>
                <a:spcPts val="2500"/>
              </a:spcBef>
              <a:spcAft>
                <a:spcPts val="600"/>
              </a:spcAft>
              <a:buNone/>
            </a:pPr>
            <a:r>
              <a:rPr lang="en-US" sz="1400" b="1"/>
              <a:t>Evaluating Success</a:t>
            </a:r>
          </a:p>
          <a:p>
            <a:pPr marL="0" lvl="1" indent="0">
              <a:lnSpc>
                <a:spcPct val="90000"/>
              </a:lnSpc>
              <a:spcBef>
                <a:spcPts val="1000"/>
              </a:spcBef>
              <a:spcAft>
                <a:spcPts val="600"/>
              </a:spcAft>
              <a:buNone/>
            </a:pPr>
            <a:r>
              <a:rPr lang="en-US" sz="1400"/>
              <a:t>Use these metrics to evaluate the overall success of the launch strategy and make necessary adjustments.</a:t>
            </a:r>
          </a:p>
        </p:txBody>
      </p:sp>
      <p:sp>
        <p:nvSpPr>
          <p:cNvPr id="4" name="Date Placeholder 3">
            <a:extLst>
              <a:ext uri="{FF2B5EF4-FFF2-40B4-BE49-F238E27FC236}">
                <a16:creationId xmlns:a16="http://schemas.microsoft.com/office/drawing/2014/main" id="{DABF10F3-215D-3389-42DC-73638C00CEC2}"/>
              </a:ext>
            </a:extLst>
          </p:cNvPr>
          <p:cNvSpPr>
            <a:spLocks noGrp="1"/>
          </p:cNvSpPr>
          <p:nvPr>
            <p:ph type="dt" sz="half" idx="10"/>
          </p:nvPr>
        </p:nvSpPr>
        <p:spPr>
          <a:xfrm>
            <a:off x="457200" y="6398016"/>
            <a:ext cx="1505607"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F665630E-076A-5F76-E31D-2D2D0C6874AE}"/>
              </a:ext>
            </a:extLst>
          </p:cNvPr>
          <p:cNvSpPr>
            <a:spLocks noGrp="1"/>
          </p:cNvSpPr>
          <p:nvPr>
            <p:ph type="ftr" sz="quarter" idx="11"/>
          </p:nvPr>
        </p:nvSpPr>
        <p:spPr>
          <a:xfrm>
            <a:off x="1962807" y="6398016"/>
            <a:ext cx="2204852" cy="365125"/>
          </a:xfrm>
        </p:spPr>
        <p:txBody>
          <a:bodyPr vert="horz" lIns="91440" tIns="45720" rIns="91440" bIns="45720" rtlCol="0" anchor="ctr">
            <a:normAutofit/>
          </a:bodyPr>
          <a:lstStyle/>
          <a:p>
            <a:pPr>
              <a:spcAft>
                <a:spcPts val="600"/>
              </a:spcAft>
            </a:pPr>
            <a:r>
              <a:rPr lang="en-US" kern="1200">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1655FECE-F57A-719A-2793-BC35CBBCE2F5}"/>
              </a:ext>
            </a:extLst>
          </p:cNvPr>
          <p:cNvSpPr>
            <a:spLocks noGrp="1"/>
          </p:cNvSpPr>
          <p:nvPr>
            <p:ph type="sldNum" sz="quarter" idx="12"/>
          </p:nvPr>
        </p:nvSpPr>
        <p:spPr>
          <a:xfrm>
            <a:off x="4160345" y="6398016"/>
            <a:ext cx="512380"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8</a:t>
            </a:fld>
            <a:endParaRPr lang="en-US"/>
          </a:p>
        </p:txBody>
      </p:sp>
      <p:pic>
        <p:nvPicPr>
          <p:cNvPr id="7" name="Content Placeholder 6" descr="Chalk board">
            <a:extLst>
              <a:ext uri="{FF2B5EF4-FFF2-40B4-BE49-F238E27FC236}">
                <a16:creationId xmlns:a16="http://schemas.microsoft.com/office/drawing/2014/main" id="{92B5512A-68AE-4DAE-A5F1-059F15DCDBA6}"/>
              </a:ext>
            </a:extLst>
          </p:cNvPr>
          <p:cNvPicPr>
            <a:picLocks noGrp="1" noChangeAspect="1"/>
          </p:cNvPicPr>
          <p:nvPr>
            <p:ph type="pic" sz="quarter" idx="13"/>
          </p:nvPr>
        </p:nvPicPr>
        <p:blipFill>
          <a:blip r:embed="rId3"/>
          <a:stretch/>
        </p:blipFill>
        <p:spPr>
          <a:xfrm>
            <a:off x="4761780" y="698395"/>
            <a:ext cx="7430219" cy="5461210"/>
          </a:xfrm>
          <a:noFill/>
        </p:spPr>
      </p:pic>
    </p:spTree>
    <p:extLst>
      <p:ext uri="{BB962C8B-B14F-4D97-AF65-F5344CB8AC3E}">
        <p14:creationId xmlns:p14="http://schemas.microsoft.com/office/powerpoint/2010/main" val="1815004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E2B3-C69F-0080-E3BD-A7EBD8F480C6}"/>
              </a:ext>
            </a:extLst>
          </p:cNvPr>
          <p:cNvSpPr>
            <a:spLocks noGrp="1"/>
          </p:cNvSpPr>
          <p:nvPr>
            <p:ph type="ctrTitle"/>
          </p:nvPr>
        </p:nvSpPr>
        <p:spPr>
          <a:xfrm>
            <a:off x="457198" y="3507830"/>
            <a:ext cx="7589521" cy="2944368"/>
          </a:xfrm>
        </p:spPr>
        <p:txBody>
          <a:bodyPr anchor="b">
            <a:normAutofit/>
          </a:bodyPr>
          <a:lstStyle/>
          <a:p>
            <a:r>
              <a:rPr lang="en-US" sz="5600"/>
              <a:t>Post-Launch Marketing Strategies for a New Sports Drink</a:t>
            </a:r>
          </a:p>
        </p:txBody>
      </p:sp>
      <p:sp>
        <p:nvSpPr>
          <p:cNvPr id="4" name="Date Placeholder 3">
            <a:extLst>
              <a:ext uri="{FF2B5EF4-FFF2-40B4-BE49-F238E27FC236}">
                <a16:creationId xmlns:a16="http://schemas.microsoft.com/office/drawing/2014/main" id="{D1ABA91B-6941-DB46-6BFE-5BCA00852579}"/>
              </a:ext>
            </a:extLst>
          </p:cNvPr>
          <p:cNvSpPr>
            <a:spLocks noGrp="1"/>
          </p:cNvSpPr>
          <p:nvPr>
            <p:ph type="dt" sz="half" idx="10"/>
          </p:nvPr>
        </p:nvSpPr>
        <p:spPr>
          <a:xfrm>
            <a:off x="457199" y="6397586"/>
            <a:ext cx="4043855" cy="365125"/>
          </a:xfrm>
        </p:spPr>
        <p:txBody>
          <a:bodyPr anchor="ctr">
            <a:normAutofit/>
          </a:bodyPr>
          <a:lstStyle/>
          <a:p>
            <a:pPr>
              <a:spcAft>
                <a:spcPts val="600"/>
              </a:spcAft>
            </a:pPr>
            <a:fld id="{339F097E-7A3A-4F11-9373-FCEF70D478AE}"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C8E3E51A-DD4F-E5F8-10D2-1019AF21AF50}"/>
              </a:ext>
            </a:extLst>
          </p:cNvPr>
          <p:cNvSpPr>
            <a:spLocks noGrp="1"/>
          </p:cNvSpPr>
          <p:nvPr>
            <p:ph type="ftr" sz="quarter" idx="11"/>
          </p:nvPr>
        </p:nvSpPr>
        <p:spPr>
          <a:xfrm>
            <a:off x="8324193" y="6397586"/>
            <a:ext cx="3238130"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E006BCAC-C36F-AC63-215D-9F329EC030EA}"/>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spTree>
    <p:extLst>
      <p:ext uri="{BB962C8B-B14F-4D97-AF65-F5344CB8AC3E}">
        <p14:creationId xmlns:p14="http://schemas.microsoft.com/office/powerpoint/2010/main" val="2937341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6928-8D58-8090-7C26-9ECC498CE6C5}"/>
              </a:ext>
            </a:extLst>
          </p:cNvPr>
          <p:cNvSpPr>
            <a:spLocks noGrp="1"/>
          </p:cNvSpPr>
          <p:nvPr>
            <p:ph type="title"/>
          </p:nvPr>
        </p:nvSpPr>
        <p:spPr>
          <a:xfrm>
            <a:off x="137159" y="151598"/>
            <a:ext cx="11924209" cy="528186"/>
          </a:xfrm>
        </p:spPr>
        <p:txBody>
          <a:bodyPr anchor="ctr">
            <a:normAutofit/>
          </a:bodyPr>
          <a:lstStyle/>
          <a:p>
            <a:r>
              <a:rPr lang="en-US"/>
              <a:t>Continuous Market Analysis and Feedback</a:t>
            </a:r>
          </a:p>
        </p:txBody>
      </p:sp>
      <p:sp>
        <p:nvSpPr>
          <p:cNvPr id="4" name="Date Placeholder 3">
            <a:extLst>
              <a:ext uri="{FF2B5EF4-FFF2-40B4-BE49-F238E27FC236}">
                <a16:creationId xmlns:a16="http://schemas.microsoft.com/office/drawing/2014/main" id="{E500B961-D91C-129E-77AE-B84E0338C35F}"/>
              </a:ext>
            </a:extLst>
          </p:cNvPr>
          <p:cNvSpPr>
            <a:spLocks noGrp="1"/>
          </p:cNvSpPr>
          <p:nvPr>
            <p:ph type="dt" sz="half" idx="10"/>
          </p:nvPr>
        </p:nvSpPr>
        <p:spPr>
          <a:xfrm>
            <a:off x="457199" y="6397586"/>
            <a:ext cx="4043855" cy="365125"/>
          </a:xfrm>
        </p:spPr>
        <p:txBody>
          <a:bodyPr anchor="ctr">
            <a:normAutofit/>
          </a:bodyPr>
          <a:lstStyle/>
          <a:p>
            <a:pPr>
              <a:spcAft>
                <a:spcPts val="600"/>
              </a:spcAft>
            </a:pPr>
            <a:fld id="{07E5ED5B-F431-4291-9350-DE25B4E24A2B}"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D76557A6-E45F-9B3F-EE0C-AC7EBB28892A}"/>
              </a:ext>
            </a:extLst>
          </p:cNvPr>
          <p:cNvSpPr>
            <a:spLocks noGrp="1"/>
          </p:cNvSpPr>
          <p:nvPr>
            <p:ph type="ftr" sz="quarter" idx="11"/>
          </p:nvPr>
        </p:nvSpPr>
        <p:spPr>
          <a:xfrm>
            <a:off x="8324193" y="6397586"/>
            <a:ext cx="3238130"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A4892B08-4C36-8C8B-4C37-EF2065875F4A}"/>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graphicFrame>
        <p:nvGraphicFramePr>
          <p:cNvPr id="7" name="Content Placeholder 7">
            <a:extLst>
              <a:ext uri="{FF2B5EF4-FFF2-40B4-BE49-F238E27FC236}">
                <a16:creationId xmlns:a16="http://schemas.microsoft.com/office/drawing/2014/main" id="{DC085039-256D-4926-B3BB-E8CD36C21CEE}"/>
              </a:ext>
            </a:extLst>
          </p:cNvPr>
          <p:cNvGraphicFramePr>
            <a:graphicFrameLocks noGrp="1"/>
          </p:cNvGraphicFramePr>
          <p:nvPr>
            <p:ph idx="1"/>
            <p:extLst>
              <p:ext uri="{D42A27DB-BD31-4B8C-83A1-F6EECF244321}">
                <p14:modId xmlns:p14="http://schemas.microsoft.com/office/powerpoint/2010/main" val="55750189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37159" y="776037"/>
          <a:ext cx="11924209" cy="5621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61497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A4CD1-848D-AD34-4D52-2D0AE2C62CD3}"/>
              </a:ext>
            </a:extLst>
          </p:cNvPr>
          <p:cNvSpPr>
            <a:spLocks noGrp="1"/>
          </p:cNvSpPr>
          <p:nvPr>
            <p:ph type="title"/>
          </p:nvPr>
        </p:nvSpPr>
        <p:spPr>
          <a:xfrm>
            <a:off x="457200" y="438912"/>
            <a:ext cx="6249032" cy="987552"/>
          </a:xfrm>
        </p:spPr>
        <p:txBody>
          <a:bodyPr vert="horz" lIns="91440" tIns="45720" rIns="91440" bIns="45720" rtlCol="0" anchor="b">
            <a:normAutofit/>
          </a:bodyPr>
          <a:lstStyle/>
          <a:p>
            <a:r>
              <a:rPr lang="en-US" b="0" kern="1200">
                <a:latin typeface="+mj-lt"/>
                <a:ea typeface="+mj-ea"/>
                <a:cs typeface="+mj-cs"/>
              </a:rPr>
              <a:t>Gathering Customer Feedback</a:t>
            </a:r>
          </a:p>
        </p:txBody>
      </p:sp>
      <p:sp>
        <p:nvSpPr>
          <p:cNvPr id="8" name="TextBox 7">
            <a:extLst>
              <a:ext uri="{FF2B5EF4-FFF2-40B4-BE49-F238E27FC236}">
                <a16:creationId xmlns:a16="http://schemas.microsoft.com/office/drawing/2014/main" id="{E55120A7-CA1B-4122-8B9E-3C3EAE3278A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2031143"/>
            <a:ext cx="6249032" cy="4203402"/>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Conduct Surveys and Focus Groups</a:t>
            </a:r>
          </a:p>
          <a:p>
            <a:pPr marL="0" lvl="1" indent="0">
              <a:spcBef>
                <a:spcPts val="1000"/>
              </a:spcBef>
              <a:spcAft>
                <a:spcPts val="600"/>
              </a:spcAft>
              <a:buFont typeface="Arial" panose="020B0604020202020204" pitchFamily="34" charset="0"/>
              <a:buNone/>
            </a:pPr>
            <a:r>
              <a:rPr lang="en-US" sz="1400"/>
              <a:t>Surveys and focus groups help understand customer preferences and expectations for our sports drink. This initial step is crucial.</a:t>
            </a:r>
          </a:p>
          <a:p>
            <a:pPr marL="0" indent="0">
              <a:spcBef>
                <a:spcPts val="2500"/>
              </a:spcBef>
              <a:spcAft>
                <a:spcPts val="600"/>
              </a:spcAft>
              <a:buFont typeface="Arial" panose="020B0604020202020204" pitchFamily="34" charset="0"/>
              <a:buNone/>
            </a:pPr>
            <a:r>
              <a:rPr lang="en-US" sz="1400" b="1"/>
              <a:t>Utilize Social Media and Reviews</a:t>
            </a:r>
          </a:p>
          <a:p>
            <a:pPr marL="0" lvl="1" indent="0">
              <a:spcBef>
                <a:spcPts val="1000"/>
              </a:spcBef>
              <a:spcAft>
                <a:spcPts val="600"/>
              </a:spcAft>
              <a:buFont typeface="Arial" panose="020B0604020202020204" pitchFamily="34" charset="0"/>
              <a:buNone/>
            </a:pPr>
            <a:r>
              <a:rPr lang="en-US" sz="1400"/>
              <a:t>Gather real-time feedback from a broader audience using social media and online reviews to get diverse customer insights.</a:t>
            </a:r>
          </a:p>
          <a:p>
            <a:pPr marL="0" indent="0">
              <a:spcBef>
                <a:spcPts val="2500"/>
              </a:spcBef>
              <a:spcAft>
                <a:spcPts val="600"/>
              </a:spcAft>
              <a:buFont typeface="Arial" panose="020B0604020202020204" pitchFamily="34" charset="0"/>
              <a:buNone/>
            </a:pPr>
            <a:r>
              <a:rPr lang="en-US" sz="1400" b="1"/>
              <a:t>Analyze Data for Trends</a:t>
            </a:r>
          </a:p>
          <a:p>
            <a:pPr marL="0" lvl="1" indent="0">
              <a:spcBef>
                <a:spcPts val="1000"/>
              </a:spcBef>
              <a:spcAft>
                <a:spcPts val="600"/>
              </a:spcAft>
              <a:buFont typeface="Arial" panose="020B0604020202020204" pitchFamily="34" charset="0"/>
              <a:buNone/>
            </a:pPr>
            <a:r>
              <a:rPr lang="en-US" sz="1400"/>
              <a:t>Analyze gathered data to identify trends and areas for improvement ensuring our product aligns with market demands.</a:t>
            </a:r>
          </a:p>
        </p:txBody>
      </p:sp>
      <p:sp>
        <p:nvSpPr>
          <p:cNvPr id="4" name="Date Placeholder 3">
            <a:extLst>
              <a:ext uri="{FF2B5EF4-FFF2-40B4-BE49-F238E27FC236}">
                <a16:creationId xmlns:a16="http://schemas.microsoft.com/office/drawing/2014/main" id="{BBC9C3CA-3D11-0191-13D2-57BBE6E3A87A}"/>
              </a:ext>
            </a:extLst>
          </p:cNvPr>
          <p:cNvSpPr>
            <a:spLocks noGrp="1"/>
          </p:cNvSpPr>
          <p:nvPr>
            <p:ph type="dt" sz="half" idx="15"/>
          </p:nvPr>
        </p:nvSpPr>
        <p:spPr>
          <a:xfrm>
            <a:off x="457200" y="6397586"/>
            <a:ext cx="3307438"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BD860E74-61D6-7926-F492-77DFB43B1303}"/>
              </a:ext>
            </a:extLst>
          </p:cNvPr>
          <p:cNvSpPr>
            <a:spLocks noGrp="1"/>
          </p:cNvSpPr>
          <p:nvPr>
            <p:ph type="ftr" sz="quarter" idx="16"/>
          </p:nvPr>
        </p:nvSpPr>
        <p:spPr>
          <a:xfrm>
            <a:off x="3950591" y="6397490"/>
            <a:ext cx="2755641" cy="365125"/>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300BBE75-91E2-C48F-5FBC-C3DA8F31B568}"/>
              </a:ext>
            </a:extLst>
          </p:cNvPr>
          <p:cNvSpPr>
            <a:spLocks noGrp="1"/>
          </p:cNvSpPr>
          <p:nvPr>
            <p:ph type="sldNum" sz="quarter" idx="17"/>
          </p:nvPr>
        </p:nvSpPr>
        <p:spPr>
          <a:xfrm>
            <a:off x="6706232" y="6397490"/>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11</a:t>
            </a:fld>
            <a:endParaRPr lang="en-US"/>
          </a:p>
        </p:txBody>
      </p:sp>
      <p:pic>
        <p:nvPicPr>
          <p:cNvPr id="7" name="Content Placeholder 6" descr="Rating Five Stars on white board">
            <a:extLst>
              <a:ext uri="{FF2B5EF4-FFF2-40B4-BE49-F238E27FC236}">
                <a16:creationId xmlns:a16="http://schemas.microsoft.com/office/drawing/2014/main" id="{AD1453F3-1836-4797-A1A2-7B2D8C817B1A}"/>
              </a:ext>
            </a:extLst>
          </p:cNvPr>
          <p:cNvPicPr>
            <a:picLocks noGrp="1" noChangeAspect="1"/>
          </p:cNvPicPr>
          <p:nvPr>
            <p:ph type="pic" sz="quarter" idx="13"/>
          </p:nvPr>
        </p:nvPicPr>
        <p:blipFill>
          <a:blip r:embed="rId3"/>
          <a:srcRect l="33242" r="20121" b="-1"/>
          <a:stretch>
            <a:fillRect/>
          </a:stretch>
        </p:blipFill>
        <p:spPr>
          <a:xfrm>
            <a:off x="7400544" y="10"/>
            <a:ext cx="4791456" cy="6857990"/>
          </a:xfrm>
          <a:noFill/>
        </p:spPr>
      </p:pic>
    </p:spTree>
    <p:extLst>
      <p:ext uri="{BB962C8B-B14F-4D97-AF65-F5344CB8AC3E}">
        <p14:creationId xmlns:p14="http://schemas.microsoft.com/office/powerpoint/2010/main" val="31845843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7D9D-2DBC-2A49-AF0A-D7410842DAA8}"/>
              </a:ext>
            </a:extLst>
          </p:cNvPr>
          <p:cNvSpPr>
            <a:spLocks noGrp="1"/>
          </p:cNvSpPr>
          <p:nvPr>
            <p:ph type="title"/>
          </p:nvPr>
        </p:nvSpPr>
        <p:spPr>
          <a:xfrm>
            <a:off x="8064062" y="457199"/>
            <a:ext cx="3617863" cy="1860331"/>
          </a:xfrm>
        </p:spPr>
        <p:txBody>
          <a:bodyPr vert="horz" lIns="91440" tIns="45720" rIns="91440" bIns="45720" rtlCol="0" anchor="b">
            <a:normAutofit/>
          </a:bodyPr>
          <a:lstStyle/>
          <a:p>
            <a:r>
              <a:rPr lang="en-US" b="0" kern="1200">
                <a:latin typeface="+mj-lt"/>
                <a:ea typeface="+mj-ea"/>
                <a:cs typeface="+mj-cs"/>
              </a:rPr>
              <a:t>Customer Retention and Loyalty Programs</a:t>
            </a:r>
          </a:p>
        </p:txBody>
      </p:sp>
      <p:pic>
        <p:nvPicPr>
          <p:cNvPr id="7" name="Content Placeholder 6" descr="Donate icons on computer keyboard">
            <a:extLst>
              <a:ext uri="{FF2B5EF4-FFF2-40B4-BE49-F238E27FC236}">
                <a16:creationId xmlns:a16="http://schemas.microsoft.com/office/drawing/2014/main" id="{8BA45E1A-5290-4B1D-9F0C-EC9F28262731}"/>
              </a:ext>
            </a:extLst>
          </p:cNvPr>
          <p:cNvPicPr>
            <a:picLocks noGrp="1" noChangeAspect="1"/>
          </p:cNvPicPr>
          <p:nvPr>
            <p:ph type="pic" sz="quarter" idx="13"/>
          </p:nvPr>
        </p:nvPicPr>
        <p:blipFill>
          <a:blip r:embed="rId3"/>
          <a:srcRect l="13980" r="12604" b="-1"/>
          <a:stretch>
            <a:fillRect/>
          </a:stretch>
        </p:blipFill>
        <p:spPr>
          <a:xfrm>
            <a:off x="-1" y="10"/>
            <a:ext cx="7542725" cy="6857990"/>
          </a:xfrm>
          <a:noFill/>
        </p:spPr>
      </p:pic>
      <p:sp>
        <p:nvSpPr>
          <p:cNvPr id="8" name="TextBox 7">
            <a:extLst>
              <a:ext uri="{FF2B5EF4-FFF2-40B4-BE49-F238E27FC236}">
                <a16:creationId xmlns:a16="http://schemas.microsoft.com/office/drawing/2014/main" id="{CA5B585D-D86D-4CF1-9F6F-7D7761A1618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64061" y="2486370"/>
            <a:ext cx="3617863" cy="3857186"/>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a:t>Loyalty Programs</a:t>
            </a:r>
          </a:p>
          <a:p>
            <a:pPr marL="0" lvl="1" indent="0">
              <a:lnSpc>
                <a:spcPct val="90000"/>
              </a:lnSpc>
              <a:spcBef>
                <a:spcPts val="1000"/>
              </a:spcBef>
              <a:spcAft>
                <a:spcPts val="600"/>
              </a:spcAft>
              <a:buFont typeface="Arial" panose="020B0604020202020204" pitchFamily="34" charset="0"/>
              <a:buNone/>
            </a:pPr>
            <a:r>
              <a:rPr lang="en-US" sz="1400"/>
              <a:t>Loyalty programs incentivize repeat purchases by rewarding customers, ultimately increasing brand loyalty.</a:t>
            </a:r>
          </a:p>
          <a:p>
            <a:pPr marL="0" indent="0">
              <a:lnSpc>
                <a:spcPct val="90000"/>
              </a:lnSpc>
              <a:spcBef>
                <a:spcPts val="2500"/>
              </a:spcBef>
              <a:spcAft>
                <a:spcPts val="600"/>
              </a:spcAft>
              <a:buFont typeface="Arial" panose="020B0604020202020204" pitchFamily="34" charset="0"/>
              <a:buNone/>
            </a:pPr>
            <a:r>
              <a:rPr lang="en-US" sz="1400" b="1"/>
              <a:t>Subscription Models</a:t>
            </a:r>
          </a:p>
          <a:p>
            <a:pPr marL="0" lvl="1" indent="0">
              <a:lnSpc>
                <a:spcPct val="90000"/>
              </a:lnSpc>
              <a:spcBef>
                <a:spcPts val="1000"/>
              </a:spcBef>
              <a:spcAft>
                <a:spcPts val="600"/>
              </a:spcAft>
              <a:buFont typeface="Arial" panose="020B0604020202020204" pitchFamily="34" charset="0"/>
              <a:buNone/>
            </a:pPr>
            <a:r>
              <a:rPr lang="en-US" sz="1400"/>
              <a:t>Subscription models provide convenience and value, leading to higher customer retention and consistent revenue.</a:t>
            </a:r>
          </a:p>
          <a:p>
            <a:pPr marL="0" indent="0">
              <a:lnSpc>
                <a:spcPct val="90000"/>
              </a:lnSpc>
              <a:spcBef>
                <a:spcPts val="2500"/>
              </a:spcBef>
              <a:spcAft>
                <a:spcPts val="600"/>
              </a:spcAft>
              <a:buFont typeface="Arial" panose="020B0604020202020204" pitchFamily="34" charset="0"/>
              <a:buNone/>
            </a:pPr>
            <a:r>
              <a:rPr lang="en-US" sz="1400" b="1"/>
              <a:t>Engagement Strategies</a:t>
            </a:r>
          </a:p>
          <a:p>
            <a:pPr marL="0" lvl="1" indent="0">
              <a:lnSpc>
                <a:spcPct val="90000"/>
              </a:lnSpc>
              <a:spcBef>
                <a:spcPts val="1000"/>
              </a:spcBef>
              <a:spcAft>
                <a:spcPts val="600"/>
              </a:spcAft>
              <a:buFont typeface="Arial" panose="020B0604020202020204" pitchFamily="34" charset="0"/>
              <a:buNone/>
            </a:pPr>
            <a:r>
              <a:rPr lang="en-US" sz="1400"/>
              <a:t>Continuous engagement with customers through personalized communication strengthens their connection to the brand.</a:t>
            </a:r>
          </a:p>
        </p:txBody>
      </p:sp>
      <p:sp>
        <p:nvSpPr>
          <p:cNvPr id="4" name="Date Placeholder 3">
            <a:extLst>
              <a:ext uri="{FF2B5EF4-FFF2-40B4-BE49-F238E27FC236}">
                <a16:creationId xmlns:a16="http://schemas.microsoft.com/office/drawing/2014/main" id="{1600051F-0F29-B2A4-9013-3994FE396CFA}"/>
              </a:ext>
            </a:extLst>
          </p:cNvPr>
          <p:cNvSpPr>
            <a:spLocks noGrp="1"/>
          </p:cNvSpPr>
          <p:nvPr>
            <p:ph type="dt" sz="half" idx="15"/>
          </p:nvPr>
        </p:nvSpPr>
        <p:spPr>
          <a:xfrm>
            <a:off x="8064061" y="6397585"/>
            <a:ext cx="1070974" cy="365125"/>
          </a:xfrm>
        </p:spPr>
        <p:txBody>
          <a:bodyPr vert="horz" lIns="91440" tIns="45720" rIns="91440" bIns="45720" rtlCol="0" anchor="ctr">
            <a:normAutofit/>
          </a:bodyPr>
          <a:lstStyle/>
          <a:p>
            <a:pPr>
              <a:spcAft>
                <a:spcPts val="600"/>
              </a:spcAft>
            </a:pPr>
            <a:fld id="{2A1E9370-9C4A-4A34-917A-E6D78BC68C7C}"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DB7FF424-F00D-C1CC-61E1-C79BD67DB339}"/>
              </a:ext>
            </a:extLst>
          </p:cNvPr>
          <p:cNvSpPr>
            <a:spLocks noGrp="1"/>
          </p:cNvSpPr>
          <p:nvPr>
            <p:ph type="ftr" sz="quarter" idx="16"/>
          </p:nvPr>
        </p:nvSpPr>
        <p:spPr>
          <a:xfrm>
            <a:off x="9135035" y="6397586"/>
            <a:ext cx="2546891" cy="365125"/>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1F0C5786-AC08-61B2-D7FC-DB6F6252B87E}"/>
              </a:ext>
            </a:extLst>
          </p:cNvPr>
          <p:cNvSpPr>
            <a:spLocks noGrp="1"/>
          </p:cNvSpPr>
          <p:nvPr>
            <p:ph type="sldNum" sz="quarter" idx="17"/>
          </p:nvPr>
        </p:nvSpPr>
        <p:spPr>
          <a:xfrm>
            <a:off x="11562323" y="6397586"/>
            <a:ext cx="530578"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39706160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0555-E261-44BE-A39C-7B4CBBE3BEFF}"/>
              </a:ext>
            </a:extLst>
          </p:cNvPr>
          <p:cNvSpPr>
            <a:spLocks noGrp="1"/>
          </p:cNvSpPr>
          <p:nvPr>
            <p:ph type="title"/>
          </p:nvPr>
        </p:nvSpPr>
        <p:spPr>
          <a:xfrm>
            <a:off x="137159" y="151598"/>
            <a:ext cx="11924209" cy="528186"/>
          </a:xfrm>
        </p:spPr>
        <p:txBody>
          <a:bodyPr anchor="ctr">
            <a:normAutofit/>
          </a:bodyPr>
          <a:lstStyle/>
          <a:p>
            <a:r>
              <a:rPr lang="en-US"/>
              <a:t>Post-Launch Digital Marketing Tactics</a:t>
            </a:r>
          </a:p>
        </p:txBody>
      </p:sp>
      <p:sp>
        <p:nvSpPr>
          <p:cNvPr id="4" name="Date Placeholder 3">
            <a:extLst>
              <a:ext uri="{FF2B5EF4-FFF2-40B4-BE49-F238E27FC236}">
                <a16:creationId xmlns:a16="http://schemas.microsoft.com/office/drawing/2014/main" id="{5166A81D-BCE6-8FBC-22D5-0DBEC22D2625}"/>
              </a:ext>
            </a:extLst>
          </p:cNvPr>
          <p:cNvSpPr>
            <a:spLocks noGrp="1"/>
          </p:cNvSpPr>
          <p:nvPr>
            <p:ph type="dt" sz="half" idx="10"/>
          </p:nvPr>
        </p:nvSpPr>
        <p:spPr>
          <a:xfrm>
            <a:off x="457199" y="6397586"/>
            <a:ext cx="4043855" cy="365125"/>
          </a:xfrm>
        </p:spPr>
        <p:txBody>
          <a:bodyPr anchor="ctr">
            <a:normAutofit/>
          </a:bodyPr>
          <a:lstStyle/>
          <a:p>
            <a:pPr>
              <a:spcAft>
                <a:spcPts val="600"/>
              </a:spcAft>
            </a:pPr>
            <a:fld id="{07E5ED5B-F431-4291-9350-DE25B4E24A2B}"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D9788406-971F-512F-51E6-E2646991C961}"/>
              </a:ext>
            </a:extLst>
          </p:cNvPr>
          <p:cNvSpPr>
            <a:spLocks noGrp="1"/>
          </p:cNvSpPr>
          <p:nvPr>
            <p:ph type="ftr" sz="quarter" idx="11"/>
          </p:nvPr>
        </p:nvSpPr>
        <p:spPr>
          <a:xfrm>
            <a:off x="8324193" y="6397586"/>
            <a:ext cx="3238130"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DB596E71-4AFE-9F9E-50A5-EFF3E8D11BE0}"/>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13</a:t>
            </a:fld>
            <a:endParaRPr lang="en-US"/>
          </a:p>
        </p:txBody>
      </p:sp>
      <p:graphicFrame>
        <p:nvGraphicFramePr>
          <p:cNvPr id="7" name="Content Placeholder 7">
            <a:extLst>
              <a:ext uri="{FF2B5EF4-FFF2-40B4-BE49-F238E27FC236}">
                <a16:creationId xmlns:a16="http://schemas.microsoft.com/office/drawing/2014/main" id="{22E962F9-78FF-4377-A50B-F804B7BDA4D2}"/>
              </a:ext>
            </a:extLst>
          </p:cNvPr>
          <p:cNvGraphicFramePr>
            <a:graphicFrameLocks noGrp="1"/>
          </p:cNvGraphicFramePr>
          <p:nvPr>
            <p:ph idx="1"/>
            <p:extLst>
              <p:ext uri="{D42A27DB-BD31-4B8C-83A1-F6EECF244321}">
                <p14:modId xmlns:p14="http://schemas.microsoft.com/office/powerpoint/2010/main" val="326859862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37159" y="776037"/>
          <a:ext cx="11924209" cy="5621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981701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75C57-F11E-DA26-BDCB-47A24BB9FE85}"/>
              </a:ext>
            </a:extLst>
          </p:cNvPr>
          <p:cNvSpPr>
            <a:spLocks noGrp="1"/>
          </p:cNvSpPr>
          <p:nvPr>
            <p:ph type="title"/>
          </p:nvPr>
        </p:nvSpPr>
        <p:spPr>
          <a:xfrm>
            <a:off x="457200" y="835572"/>
            <a:ext cx="10499834" cy="1434662"/>
          </a:xfrm>
        </p:spPr>
        <p:txBody>
          <a:bodyPr anchor="b">
            <a:normAutofit/>
          </a:bodyPr>
          <a:lstStyle/>
          <a:p>
            <a:r>
              <a:rPr lang="en-US"/>
              <a:t>Conclusion</a:t>
            </a:r>
          </a:p>
        </p:txBody>
      </p:sp>
      <p:graphicFrame>
        <p:nvGraphicFramePr>
          <p:cNvPr id="10" name="Content Placeholder 2">
            <a:extLst>
              <a:ext uri="{FF2B5EF4-FFF2-40B4-BE49-F238E27FC236}">
                <a16:creationId xmlns:a16="http://schemas.microsoft.com/office/drawing/2014/main" id="{068515D3-17B6-DC2B-2740-C17416136AEB}"/>
              </a:ext>
            </a:extLst>
          </p:cNvPr>
          <p:cNvGraphicFramePr>
            <a:graphicFrameLocks noGrp="1"/>
          </p:cNvGraphicFramePr>
          <p:nvPr>
            <p:ph sz="quarter" idx="13"/>
            <p:extLst>
              <p:ext uri="{D42A27DB-BD31-4B8C-83A1-F6EECF244321}">
                <p14:modId xmlns:p14="http://schemas.microsoft.com/office/powerpoint/2010/main" val="931216982"/>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61044" y="3593592"/>
          <a:ext cx="10890504"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CBF83876-DCBF-717A-1A86-ED829B147F5E}"/>
              </a:ext>
            </a:extLst>
          </p:cNvPr>
          <p:cNvSpPr>
            <a:spLocks noGrp="1"/>
          </p:cNvSpPr>
          <p:nvPr>
            <p:ph type="dt" sz="half" idx="10"/>
          </p:nvPr>
        </p:nvSpPr>
        <p:spPr>
          <a:xfrm>
            <a:off x="457199" y="6397586"/>
            <a:ext cx="4043855" cy="365125"/>
          </a:xfrm>
        </p:spPr>
        <p:txBody>
          <a:bodyPr anchor="ctr">
            <a:normAutofit/>
          </a:bodyPr>
          <a:lstStyle/>
          <a:p>
            <a:pPr>
              <a:spcAft>
                <a:spcPts val="600"/>
              </a:spcAft>
            </a:pPr>
            <a:fld id="{07E5ED5B-F431-4291-9350-DE25B4E24A2B}" type="datetime1">
              <a:rPr lang="en-US" smtClean="0"/>
              <a:pPr>
                <a:spcAft>
                  <a:spcPts val="600"/>
                </a:spcAft>
              </a:pPr>
              <a:t>6/17/2025</a:t>
            </a:fld>
            <a:endParaRPr lang="en-US"/>
          </a:p>
        </p:txBody>
      </p:sp>
      <p:sp>
        <p:nvSpPr>
          <p:cNvPr id="5" name="Footer Placeholder 4">
            <a:extLst>
              <a:ext uri="{FF2B5EF4-FFF2-40B4-BE49-F238E27FC236}">
                <a16:creationId xmlns:a16="http://schemas.microsoft.com/office/drawing/2014/main" id="{A24C1D8C-BEAF-DA1F-BF11-27B2361EBF6F}"/>
              </a:ext>
            </a:extLst>
          </p:cNvPr>
          <p:cNvSpPr>
            <a:spLocks noGrp="1"/>
          </p:cNvSpPr>
          <p:nvPr>
            <p:ph type="ftr" sz="quarter" idx="11"/>
          </p:nvPr>
        </p:nvSpPr>
        <p:spPr>
          <a:xfrm>
            <a:off x="8324193" y="6397586"/>
            <a:ext cx="3238130" cy="365125"/>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FE138A87-21BD-009F-32FE-37695CD5673C}"/>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14</a:t>
            </a:fld>
            <a:endParaRPr lang="en-US"/>
          </a:p>
        </p:txBody>
      </p:sp>
    </p:spTree>
    <p:extLst>
      <p:ext uri="{BB962C8B-B14F-4D97-AF65-F5344CB8AC3E}">
        <p14:creationId xmlns:p14="http://schemas.microsoft.com/office/powerpoint/2010/main" val="165101552"/>
      </p:ext>
    </p:extLst>
  </p:cSld>
  <p:clrMapOvr>
    <a:masterClrMapping/>
  </p:clrMapOvr>
  <p:transition>
    <p:fade/>
  </p:transition>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_win32_DN_V2" id="{35DA499A-085A-4E3E-92EC-48B4922E938B}" vid="{14DDC8D4-282F-4E4E-AFE2-B9DA7AC991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1464</Words>
  <Application>Microsoft Office PowerPoint</Application>
  <PresentationFormat>Widescreen</PresentationFormat>
  <Paragraphs>151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Bierstadt</vt:lpstr>
      <vt:lpstr>Bevel</vt:lpstr>
      <vt:lpstr>Winning Marketing Strategies for Launching a New Sports Drink</vt:lpstr>
      <vt:lpstr>Agenda for Discussion</vt:lpstr>
      <vt:lpstr>Marketing Strategy for a Sports Drink Product Launch</vt:lpstr>
      <vt:lpstr>Market Analysis and Target Audience</vt:lpstr>
      <vt:lpstr>Product Positioning and Unique Selling Proposition (USP)</vt:lpstr>
      <vt:lpstr>Marketing Channels and Tactics</vt:lpstr>
      <vt:lpstr>Launch Timeline and Key Milestones</vt:lpstr>
      <vt:lpstr>Performance Metrics and Evaluation</vt:lpstr>
      <vt:lpstr>Post-Launch Marketing Strategies for a New Sports Drink</vt:lpstr>
      <vt:lpstr>Continuous Market Analysis and Feedback</vt:lpstr>
      <vt:lpstr>Gathering Customer Feedback</vt:lpstr>
      <vt:lpstr>Customer Retention and Loyalty Programs</vt:lpstr>
      <vt:lpstr>Post-Launch Digital Marketing Tactics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P</dc:creator>
  <cp:lastModifiedBy>Andrew P</cp:lastModifiedBy>
  <cp:revision>1</cp:revision>
  <dcterms:created xsi:type="dcterms:W3CDTF">2025-06-17T07:39:50Z</dcterms:created>
  <dcterms:modified xsi:type="dcterms:W3CDTF">2025-06-17T08:04:06Z</dcterms:modified>
</cp:coreProperties>
</file>